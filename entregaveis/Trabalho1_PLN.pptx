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Número do Slide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 do Título"/>
          <p:cNvSpPr txBox="1"/>
          <p:nvPr>
            <p:ph type="title"/>
          </p:nvPr>
        </p:nvSpPr>
        <p:spPr>
          <a:xfrm>
            <a:off x="1370012" y="577453"/>
            <a:ext cx="7315201" cy="12513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 anchor="ctr"/>
          <a:lstStyle/>
          <a:p>
            <a:pPr/>
            <a:r>
              <a:t>Texto do Título</a:t>
            </a:r>
          </a:p>
        </p:txBody>
      </p:sp>
      <p:sp>
        <p:nvSpPr>
          <p:cNvPr id="3" name="Nível de Corpo Um…"/>
          <p:cNvSpPr txBox="1"/>
          <p:nvPr>
            <p:ph type="body" idx="1"/>
          </p:nvPr>
        </p:nvSpPr>
        <p:spPr>
          <a:xfrm>
            <a:off x="5103812" y="1828800"/>
            <a:ext cx="3581401" cy="3314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/>
          <a:lstStyle/>
          <a:p>
            <a:pPr/>
            <a:r>
              <a:t>Nível de Corpo Um</a:t>
            </a:r>
          </a:p>
          <a:p>
            <a:pPr lvl="1"/>
            <a:r>
              <a:t>Nível de Corpo Dois</a:t>
            </a:r>
          </a:p>
          <a:p>
            <a:pPr lvl="2"/>
            <a:r>
              <a:t>Nível de Corpo Três</a:t>
            </a:r>
          </a:p>
          <a:p>
            <a:pPr lvl="3"/>
            <a:r>
              <a:t>Nível de Corpo Quatro</a:t>
            </a:r>
          </a:p>
          <a:p>
            <a:pPr lvl="4"/>
            <a:r>
              <a:t>Nível de Corpo Cinco</a:t>
            </a:r>
          </a:p>
        </p:txBody>
      </p:sp>
      <p:sp>
        <p:nvSpPr>
          <p:cNvPr id="4" name="Número do Slide"/>
          <p:cNvSpPr txBox="1"/>
          <p:nvPr>
            <p:ph type="sldNum" sz="quarter" idx="2"/>
          </p:nvPr>
        </p:nvSpPr>
        <p:spPr>
          <a:xfrm>
            <a:off x="6294578" y="4643111"/>
            <a:ext cx="258623" cy="248304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 algn="r">
              <a:defRPr sz="12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398768" y="1704935"/>
            <a:ext cx="8229601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/>
          <a:p>
            <a:pPr>
              <a:defRPr sz="5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Corpora, Classificação e</a:t>
            </a:r>
          </a:p>
          <a:p>
            <a:pPr>
              <a:defRPr sz="5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pPr>
            <a:r>
              <a:t>Similaridade de Texto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424191" y="3197263"/>
            <a:ext cx="832104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D35F8A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Introdução ao Processamento de Linguagem Natural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457200" y="4424679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400">
                <a:solidFill>
                  <a:srgbClr val="4A6C93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Ana Carolina Poletto, Bárbara Dapper, João Pedro Martins, Luiza Pasini e Rafaela Remião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 txBox="1"/>
          <p:nvPr/>
        </p:nvSpPr>
        <p:spPr>
          <a:xfrm>
            <a:off x="914400" y="1356403"/>
            <a:ext cx="7315200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2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Introdução</a:t>
            </a:r>
          </a:p>
        </p:txBody>
      </p:sp>
      <p:sp>
        <p:nvSpPr>
          <p:cNvPr id="25" name="Text 1"/>
          <p:cNvSpPr txBox="1"/>
          <p:nvPr/>
        </p:nvSpPr>
        <p:spPr>
          <a:xfrm>
            <a:off x="565322" y="1773130"/>
            <a:ext cx="8013356" cy="203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4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Conseguimos saber de qual área é uma questão de concurso só pelo texto? O quanto os modelos de linguagem concordam com a gente?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4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1"/>
          <p:cNvSpPr txBox="1"/>
          <p:nvPr/>
        </p:nvSpPr>
        <p:spPr>
          <a:xfrm>
            <a:off x="480844" y="2120900"/>
            <a:ext cx="8046719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Corpus de Questões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Shape 2"/>
          <p:cNvSpPr/>
          <p:nvPr/>
        </p:nvSpPr>
        <p:spPr>
          <a:xfrm>
            <a:off x="5956966" y="2305531"/>
            <a:ext cx="2350711" cy="1787261"/>
          </a:xfrm>
          <a:prstGeom prst="roundRect">
            <a:avLst>
              <a:gd name="adj" fmla="val 7674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0" name="Shape 2"/>
          <p:cNvSpPr/>
          <p:nvPr/>
        </p:nvSpPr>
        <p:spPr>
          <a:xfrm>
            <a:off x="3396644" y="2305531"/>
            <a:ext cx="2350712" cy="1787261"/>
          </a:xfrm>
          <a:prstGeom prst="roundRect">
            <a:avLst>
              <a:gd name="adj" fmla="val 7674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1" name="Text 0"/>
          <p:cNvSpPr txBox="1"/>
          <p:nvPr/>
        </p:nvSpPr>
        <p:spPr>
          <a:xfrm>
            <a:off x="457200" y="717000"/>
            <a:ext cx="8229601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Coleta</a:t>
            </a:r>
          </a:p>
        </p:txBody>
      </p:sp>
      <p:sp>
        <p:nvSpPr>
          <p:cNvPr id="32" name="Text 1"/>
          <p:cNvSpPr txBox="1"/>
          <p:nvPr/>
        </p:nvSpPr>
        <p:spPr>
          <a:xfrm>
            <a:off x="457199" y="1638330"/>
            <a:ext cx="82296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95 provas de TI da banca FGV, no PCI Concursos, de 2021 a 2026</a:t>
            </a:r>
          </a:p>
        </p:txBody>
      </p:sp>
      <p:sp>
        <p:nvSpPr>
          <p:cNvPr id="33" name="Shape 2"/>
          <p:cNvSpPr/>
          <p:nvPr/>
        </p:nvSpPr>
        <p:spPr>
          <a:xfrm>
            <a:off x="836323" y="2305531"/>
            <a:ext cx="2350711" cy="1787261"/>
          </a:xfrm>
          <a:prstGeom prst="roundRect">
            <a:avLst>
              <a:gd name="adj" fmla="val 7674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34" name="Text 3"/>
          <p:cNvSpPr txBox="1"/>
          <p:nvPr/>
        </p:nvSpPr>
        <p:spPr>
          <a:xfrm>
            <a:off x="1005839" y="2460528"/>
            <a:ext cx="2011679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727</a:t>
            </a:r>
          </a:p>
        </p:txBody>
      </p:sp>
      <p:sp>
        <p:nvSpPr>
          <p:cNvPr id="35" name="Text 4"/>
          <p:cNvSpPr txBox="1"/>
          <p:nvPr/>
        </p:nvSpPr>
        <p:spPr>
          <a:xfrm>
            <a:off x="1005839" y="3097560"/>
            <a:ext cx="2011679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5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Engenharia de Software</a:t>
            </a:r>
          </a:p>
        </p:txBody>
      </p:sp>
      <p:sp>
        <p:nvSpPr>
          <p:cNvPr id="36" name="Text 6"/>
          <p:cNvSpPr txBox="1"/>
          <p:nvPr/>
        </p:nvSpPr>
        <p:spPr>
          <a:xfrm>
            <a:off x="3566159" y="2460528"/>
            <a:ext cx="201168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669</a:t>
            </a:r>
          </a:p>
        </p:txBody>
      </p:sp>
      <p:sp>
        <p:nvSpPr>
          <p:cNvPr id="37" name="Text 7"/>
          <p:cNvSpPr txBox="1"/>
          <p:nvPr/>
        </p:nvSpPr>
        <p:spPr>
          <a:xfrm>
            <a:off x="3566159" y="3097560"/>
            <a:ext cx="201168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5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Redes e Infraestrutura</a:t>
            </a:r>
          </a:p>
        </p:txBody>
      </p:sp>
      <p:sp>
        <p:nvSpPr>
          <p:cNvPr id="38" name="Text 9"/>
          <p:cNvSpPr txBox="1"/>
          <p:nvPr/>
        </p:nvSpPr>
        <p:spPr>
          <a:xfrm>
            <a:off x="6126479" y="2460528"/>
            <a:ext cx="201168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4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502</a:t>
            </a:r>
          </a:p>
        </p:txBody>
      </p:sp>
      <p:sp>
        <p:nvSpPr>
          <p:cNvPr id="39" name="Text 10"/>
          <p:cNvSpPr txBox="1"/>
          <p:nvPr/>
        </p:nvSpPr>
        <p:spPr>
          <a:xfrm>
            <a:off x="6126479" y="3097560"/>
            <a:ext cx="201168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25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Segurança da Informação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Text 0"/>
          <p:cNvSpPr txBox="1"/>
          <p:nvPr/>
        </p:nvSpPr>
        <p:spPr>
          <a:xfrm>
            <a:off x="457200" y="940317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Do PDF ao JSON</a:t>
            </a:r>
          </a:p>
        </p:txBody>
      </p:sp>
      <p:sp>
        <p:nvSpPr>
          <p:cNvPr id="42" name="Text 1"/>
          <p:cNvSpPr txBox="1"/>
          <p:nvPr/>
        </p:nvSpPr>
        <p:spPr>
          <a:xfrm>
            <a:off x="457200" y="1527057"/>
            <a:ext cx="8229601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0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etapas aplicadas</a:t>
            </a:r>
          </a:p>
        </p:txBody>
      </p:sp>
      <p:sp>
        <p:nvSpPr>
          <p:cNvPr id="43" name="Shape 2"/>
          <p:cNvSpPr/>
          <p:nvPr/>
        </p:nvSpPr>
        <p:spPr>
          <a:xfrm>
            <a:off x="457200" y="2285462"/>
            <a:ext cx="777242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4" name="Text 3"/>
          <p:cNvSpPr txBox="1"/>
          <p:nvPr/>
        </p:nvSpPr>
        <p:spPr>
          <a:xfrm>
            <a:off x="457199" y="2597881"/>
            <a:ext cx="7772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PDF</a:t>
            </a:r>
          </a:p>
        </p:txBody>
      </p:sp>
      <p:sp>
        <p:nvSpPr>
          <p:cNvPr id="45" name="Text 4"/>
          <p:cNvSpPr txBox="1"/>
          <p:nvPr/>
        </p:nvSpPr>
        <p:spPr>
          <a:xfrm>
            <a:off x="137159" y="3161276"/>
            <a:ext cx="1417323" cy="177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prova + gabarito</a:t>
            </a:r>
          </a:p>
        </p:txBody>
      </p:sp>
      <p:sp>
        <p:nvSpPr>
          <p:cNvPr id="46" name="Shape 5"/>
          <p:cNvSpPr/>
          <p:nvPr/>
        </p:nvSpPr>
        <p:spPr>
          <a:xfrm>
            <a:off x="1307591" y="2699504"/>
            <a:ext cx="566930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47" name="Shape 6"/>
          <p:cNvSpPr/>
          <p:nvPr/>
        </p:nvSpPr>
        <p:spPr>
          <a:xfrm>
            <a:off x="1947672" y="2310884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48" name="Text 7"/>
          <p:cNvSpPr txBox="1"/>
          <p:nvPr/>
        </p:nvSpPr>
        <p:spPr>
          <a:xfrm>
            <a:off x="1947671" y="2623304"/>
            <a:ext cx="7772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TXT</a:t>
            </a:r>
          </a:p>
        </p:txBody>
      </p:sp>
      <p:sp>
        <p:nvSpPr>
          <p:cNvPr id="49" name="Text 8"/>
          <p:cNvSpPr txBox="1"/>
          <p:nvPr/>
        </p:nvSpPr>
        <p:spPr>
          <a:xfrm>
            <a:off x="1627632" y="3161277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pdftotext, colunas reordenadas</a:t>
            </a:r>
          </a:p>
        </p:txBody>
      </p:sp>
      <p:sp>
        <p:nvSpPr>
          <p:cNvPr id="50" name="Shape 9"/>
          <p:cNvSpPr/>
          <p:nvPr/>
        </p:nvSpPr>
        <p:spPr>
          <a:xfrm>
            <a:off x="2798064" y="2699504"/>
            <a:ext cx="566930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1" name="Shape 10"/>
          <p:cNvSpPr/>
          <p:nvPr/>
        </p:nvSpPr>
        <p:spPr>
          <a:xfrm>
            <a:off x="3438144" y="2310884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2" name="Text 11"/>
          <p:cNvSpPr txBox="1"/>
          <p:nvPr/>
        </p:nvSpPr>
        <p:spPr>
          <a:xfrm>
            <a:off x="3438144" y="2623304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Limpeza</a:t>
            </a:r>
          </a:p>
        </p:txBody>
      </p:sp>
      <p:sp>
        <p:nvSpPr>
          <p:cNvPr id="53" name="Text 12"/>
          <p:cNvSpPr txBox="1"/>
          <p:nvPr/>
        </p:nvSpPr>
        <p:spPr>
          <a:xfrm>
            <a:off x="3118104" y="3161277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remove cabeçalho e rodapé</a:t>
            </a:r>
          </a:p>
        </p:txBody>
      </p:sp>
      <p:sp>
        <p:nvSpPr>
          <p:cNvPr id="54" name="Shape 13"/>
          <p:cNvSpPr/>
          <p:nvPr/>
        </p:nvSpPr>
        <p:spPr>
          <a:xfrm>
            <a:off x="4288535" y="2699504"/>
            <a:ext cx="566930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5" name="Shape 14"/>
          <p:cNvSpPr/>
          <p:nvPr/>
        </p:nvSpPr>
        <p:spPr>
          <a:xfrm>
            <a:off x="4928615" y="2310884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56" name="Text 15"/>
          <p:cNvSpPr txBox="1"/>
          <p:nvPr/>
        </p:nvSpPr>
        <p:spPr>
          <a:xfrm>
            <a:off x="4928615" y="2623304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Separar</a:t>
            </a:r>
          </a:p>
        </p:txBody>
      </p:sp>
      <p:sp>
        <p:nvSpPr>
          <p:cNvPr id="57" name="Text 16"/>
          <p:cNvSpPr txBox="1"/>
          <p:nvPr/>
        </p:nvSpPr>
        <p:spPr>
          <a:xfrm>
            <a:off x="4608576" y="3161277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enunciado e alternativas</a:t>
            </a:r>
          </a:p>
        </p:txBody>
      </p:sp>
      <p:sp>
        <p:nvSpPr>
          <p:cNvPr id="58" name="Shape 17"/>
          <p:cNvSpPr/>
          <p:nvPr/>
        </p:nvSpPr>
        <p:spPr>
          <a:xfrm>
            <a:off x="5779008" y="2699504"/>
            <a:ext cx="566930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59" name="Shape 18"/>
          <p:cNvSpPr/>
          <p:nvPr/>
        </p:nvSpPr>
        <p:spPr>
          <a:xfrm>
            <a:off x="6419088" y="2310884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0" name="Text 19"/>
          <p:cNvSpPr txBox="1"/>
          <p:nvPr/>
        </p:nvSpPr>
        <p:spPr>
          <a:xfrm>
            <a:off x="6419088" y="2623304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Gabarito</a:t>
            </a:r>
          </a:p>
        </p:txBody>
      </p:sp>
      <p:sp>
        <p:nvSpPr>
          <p:cNvPr id="61" name="Text 20"/>
          <p:cNvSpPr txBox="1"/>
          <p:nvPr/>
        </p:nvSpPr>
        <p:spPr>
          <a:xfrm>
            <a:off x="6099047" y="3161277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bloco certo do gabarito (Tipo 1)</a:t>
            </a:r>
          </a:p>
        </p:txBody>
      </p:sp>
      <p:sp>
        <p:nvSpPr>
          <p:cNvPr id="62" name="Shape 21"/>
          <p:cNvSpPr/>
          <p:nvPr/>
        </p:nvSpPr>
        <p:spPr>
          <a:xfrm>
            <a:off x="7269480" y="2699504"/>
            <a:ext cx="566930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63" name="Shape 22"/>
          <p:cNvSpPr/>
          <p:nvPr/>
        </p:nvSpPr>
        <p:spPr>
          <a:xfrm>
            <a:off x="7909559" y="2310884"/>
            <a:ext cx="777243" cy="777243"/>
          </a:xfrm>
          <a:prstGeom prst="ellipse">
            <a:avLst/>
          </a:prstGeom>
          <a:solidFill>
            <a:srgbClr val="C24F80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64" name="Text 23"/>
          <p:cNvSpPr txBox="1"/>
          <p:nvPr/>
        </p:nvSpPr>
        <p:spPr>
          <a:xfrm>
            <a:off x="7909559" y="2623304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JSON</a:t>
            </a:r>
          </a:p>
        </p:txBody>
      </p:sp>
      <p:sp>
        <p:nvSpPr>
          <p:cNvPr id="65" name="Text 24"/>
          <p:cNvSpPr txBox="1"/>
          <p:nvPr/>
        </p:nvSpPr>
        <p:spPr>
          <a:xfrm>
            <a:off x="7589518" y="3161277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por ano e por subárea</a:t>
            </a:r>
          </a:p>
        </p:txBody>
      </p:sp>
      <p:sp>
        <p:nvSpPr>
          <p:cNvPr id="66" name="Text 25"/>
          <p:cNvSpPr txBox="1"/>
          <p:nvPr/>
        </p:nvSpPr>
        <p:spPr>
          <a:xfrm>
            <a:off x="457200" y="4199890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6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6.777 questões extraídas  →  2.506 no corpus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 0"/>
          <p:cNvSpPr txBox="1"/>
          <p:nvPr/>
        </p:nvSpPr>
        <p:spPr>
          <a:xfrm>
            <a:off x="313133" y="1941258"/>
            <a:ext cx="8721123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7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Critérios de exclusão</a:t>
            </a:r>
          </a:p>
        </p:txBody>
      </p:sp>
      <p:sp>
        <p:nvSpPr>
          <p:cNvPr id="69" name="Text 3"/>
          <p:cNvSpPr txBox="1"/>
          <p:nvPr/>
        </p:nvSpPr>
        <p:spPr>
          <a:xfrm>
            <a:off x="534213" y="2934900"/>
            <a:ext cx="7379804" cy="1287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142B47">
                    <a:alpha val="77701"/>
                  </a:srgbClr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Foram removidas </a:t>
            </a:r>
            <a:r>
              <a:rPr b="1">
                <a:solidFill>
                  <a:srgbClr val="C24F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4.271 questões (63% do total)</a:t>
            </a:r>
            <a:r>
              <a:t> por estarem fora da área de Computação, apresentarem </a:t>
            </a:r>
            <a:r>
              <a:rPr b="1">
                <a:solidFill>
                  <a:srgbClr val="C24F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problemas de conversão ou formatação</a:t>
            </a:r>
            <a:r>
              <a:t>, estarem </a:t>
            </a:r>
            <a:r>
              <a:rPr b="1">
                <a:solidFill>
                  <a:srgbClr val="C24F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sem gabarito ou anuladas</a:t>
            </a:r>
            <a:r>
              <a:t>, ou serem </a:t>
            </a:r>
            <a:r>
              <a:rPr b="1">
                <a:solidFill>
                  <a:srgbClr val="C24F8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repetidas em outras provas</a:t>
            </a:r>
            <a:r>
              <a:rPr>
                <a:solidFill>
                  <a:srgbClr val="C24F80"/>
                </a:solidFill>
              </a:rPr>
              <a:t>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hape 2"/>
          <p:cNvSpPr/>
          <p:nvPr/>
        </p:nvSpPr>
        <p:spPr>
          <a:xfrm>
            <a:off x="5937245" y="1861507"/>
            <a:ext cx="2573027" cy="1969128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2" name="Shape 2"/>
          <p:cNvSpPr/>
          <p:nvPr/>
        </p:nvSpPr>
        <p:spPr>
          <a:xfrm>
            <a:off x="3285486" y="1861507"/>
            <a:ext cx="2573028" cy="1969128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3" name="Text 0"/>
          <p:cNvSpPr txBox="1"/>
          <p:nvPr/>
        </p:nvSpPr>
        <p:spPr>
          <a:xfrm>
            <a:off x="457200" y="813271"/>
            <a:ext cx="8229601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Definição de subárea</a:t>
            </a:r>
          </a:p>
        </p:txBody>
      </p:sp>
      <p:sp>
        <p:nvSpPr>
          <p:cNvPr id="74" name="Shape 2"/>
          <p:cNvSpPr/>
          <p:nvPr/>
        </p:nvSpPr>
        <p:spPr>
          <a:xfrm>
            <a:off x="633728" y="1861507"/>
            <a:ext cx="2573027" cy="1969128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75" name="Text 3"/>
          <p:cNvSpPr txBox="1"/>
          <p:nvPr/>
        </p:nvSpPr>
        <p:spPr>
          <a:xfrm>
            <a:off x="774067" y="2217105"/>
            <a:ext cx="229235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Palavras-chave</a:t>
            </a:r>
          </a:p>
        </p:txBody>
      </p:sp>
      <p:sp>
        <p:nvSpPr>
          <p:cNvPr id="76" name="Text 4"/>
          <p:cNvSpPr txBox="1"/>
          <p:nvPr/>
        </p:nvSpPr>
        <p:spPr>
          <a:xfrm>
            <a:off x="822960" y="2747528"/>
            <a:ext cx="2194562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lista de termos por subárea, o enunciado vale o dobro</a:t>
            </a:r>
          </a:p>
        </p:txBody>
      </p:sp>
      <p:sp>
        <p:nvSpPr>
          <p:cNvPr id="77" name="Text 6"/>
          <p:cNvSpPr txBox="1"/>
          <p:nvPr/>
        </p:nvSpPr>
        <p:spPr>
          <a:xfrm>
            <a:off x="3474719" y="2217105"/>
            <a:ext cx="21945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Ambíguas</a:t>
            </a:r>
          </a:p>
        </p:txBody>
      </p:sp>
      <p:sp>
        <p:nvSpPr>
          <p:cNvPr id="78" name="Text 7"/>
          <p:cNvSpPr txBox="1"/>
          <p:nvPr/>
        </p:nvSpPr>
        <p:spPr>
          <a:xfrm>
            <a:off x="3474720" y="2747528"/>
            <a:ext cx="2292355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11% das questões têm menos de 4 pontos entre a 1ª e a 2ª subárea</a:t>
            </a:r>
          </a:p>
        </p:txBody>
      </p:sp>
      <p:sp>
        <p:nvSpPr>
          <p:cNvPr id="79" name="Text 9"/>
          <p:cNvSpPr txBox="1"/>
          <p:nvPr/>
        </p:nvSpPr>
        <p:spPr>
          <a:xfrm>
            <a:off x="6126480" y="2217105"/>
            <a:ext cx="21945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5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k-NN (k=3)</a:t>
            </a:r>
          </a:p>
        </p:txBody>
      </p:sp>
      <p:sp>
        <p:nvSpPr>
          <p:cNvPr id="80" name="Text 10"/>
          <p:cNvSpPr txBox="1"/>
          <p:nvPr/>
        </p:nvSpPr>
        <p:spPr>
          <a:xfrm>
            <a:off x="6126479" y="2747528"/>
            <a:ext cx="2194562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treinado nas questões confiáveis, decide as ambíguas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457200" y="446812"/>
            <a:ext cx="8229600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Estrutura do JSON</a:t>
            </a:r>
          </a:p>
        </p:txBody>
      </p:sp>
      <p:sp>
        <p:nvSpPr>
          <p:cNvPr id="83" name="Shape 2"/>
          <p:cNvSpPr/>
          <p:nvPr/>
        </p:nvSpPr>
        <p:spPr>
          <a:xfrm>
            <a:off x="1539837" y="1425793"/>
            <a:ext cx="6064326" cy="3372956"/>
          </a:xfrm>
          <a:prstGeom prst="roundRect">
            <a:avLst>
              <a:gd name="adj" fmla="val 2424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84" name="Text 3"/>
          <p:cNvSpPr txBox="1"/>
          <p:nvPr/>
        </p:nvSpPr>
        <p:spPr>
          <a:xfrm>
            <a:off x="1756616" y="1626370"/>
            <a:ext cx="5630768" cy="297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{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"id": "28-061",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"subarea": "seguranca_da_informacao",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"ano": 2023,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"banca": "FGV",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"cargo_orgao": "analista judiciario ... tj se",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"enunciado": "O computador de Elias foi ...",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"alternativas": [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  {"letra": "A", "texto": "memória;"}, ...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],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"gabarito": "A",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  "resposta_correta": "memória;"</a:t>
            </a:r>
          </a:p>
          <a:p>
            <a:pPr>
              <a:defRPr sz="15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}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Text 0"/>
          <p:cNvSpPr txBox="1"/>
          <p:nvPr/>
        </p:nvSpPr>
        <p:spPr>
          <a:xfrm>
            <a:off x="457200" y="660399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Estatísticas do corpus</a:t>
            </a:r>
          </a:p>
        </p:txBody>
      </p:sp>
      <p:graphicFrame>
        <p:nvGraphicFramePr>
          <p:cNvPr id="87" name="Table 0"/>
          <p:cNvGraphicFramePr/>
          <p:nvPr/>
        </p:nvGraphicFramePr>
        <p:xfrm>
          <a:off x="914400" y="1422400"/>
          <a:ext cx="7315200" cy="288036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011679"/>
                <a:gridCol w="1188720"/>
                <a:gridCol w="1188720"/>
                <a:gridCol w="1371600"/>
                <a:gridCol w="15544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Subárea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Questões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Provas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Anos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Tokens / enunciado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Eng. de Software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727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74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66,8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Redes e Infra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80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65,8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Segurança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502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81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69,3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Banco de Dados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469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77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66,2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Governança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139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50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64,3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Total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2.506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91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2021–2026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66,8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 0"/>
          <p:cNvSpPr txBox="1"/>
          <p:nvPr/>
        </p:nvSpPr>
        <p:spPr>
          <a:xfrm>
            <a:off x="457200" y="499666"/>
            <a:ext cx="8229600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Dataset card</a:t>
            </a:r>
          </a:p>
        </p:txBody>
      </p:sp>
      <p:sp>
        <p:nvSpPr>
          <p:cNvPr id="90" name="Shape 1"/>
          <p:cNvSpPr/>
          <p:nvPr/>
        </p:nvSpPr>
        <p:spPr>
          <a:xfrm>
            <a:off x="731520" y="1596820"/>
            <a:ext cx="2377442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1" name="Text 2"/>
          <p:cNvSpPr txBox="1"/>
          <p:nvPr/>
        </p:nvSpPr>
        <p:spPr>
          <a:xfrm>
            <a:off x="822960" y="1703372"/>
            <a:ext cx="219456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92" name="Text 3"/>
          <p:cNvSpPr txBox="1"/>
          <p:nvPr/>
        </p:nvSpPr>
        <p:spPr>
          <a:xfrm>
            <a:off x="822960" y="2148888"/>
            <a:ext cx="21945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PCI Concursos, banca FGV, 2021–2026</a:t>
            </a:r>
          </a:p>
        </p:txBody>
      </p:sp>
      <p:sp>
        <p:nvSpPr>
          <p:cNvPr id="93" name="Shape 4"/>
          <p:cNvSpPr/>
          <p:nvPr/>
        </p:nvSpPr>
        <p:spPr>
          <a:xfrm>
            <a:off x="3383279" y="1596820"/>
            <a:ext cx="2377442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4" name="Text 5"/>
          <p:cNvSpPr txBox="1"/>
          <p:nvPr/>
        </p:nvSpPr>
        <p:spPr>
          <a:xfrm>
            <a:off x="3474720" y="1703372"/>
            <a:ext cx="219456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Tamanho</a:t>
            </a:r>
          </a:p>
        </p:txBody>
      </p:sp>
      <p:sp>
        <p:nvSpPr>
          <p:cNvPr id="95" name="Text 6"/>
          <p:cNvSpPr txBox="1"/>
          <p:nvPr/>
        </p:nvSpPr>
        <p:spPr>
          <a:xfrm>
            <a:off x="3474718" y="2161588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2.506 questões, 5 subáreas, 91 provas</a:t>
            </a:r>
          </a:p>
        </p:txBody>
      </p:sp>
      <p:sp>
        <p:nvSpPr>
          <p:cNvPr id="96" name="Shape 7"/>
          <p:cNvSpPr/>
          <p:nvPr/>
        </p:nvSpPr>
        <p:spPr>
          <a:xfrm>
            <a:off x="6035039" y="1596820"/>
            <a:ext cx="2377442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97" name="Text 8"/>
          <p:cNvSpPr txBox="1"/>
          <p:nvPr/>
        </p:nvSpPr>
        <p:spPr>
          <a:xfrm>
            <a:off x="6126479" y="1703372"/>
            <a:ext cx="219456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Formato</a:t>
            </a:r>
          </a:p>
        </p:txBody>
      </p:sp>
      <p:sp>
        <p:nvSpPr>
          <p:cNvPr id="98" name="Text 9"/>
          <p:cNvSpPr txBox="1"/>
          <p:nvPr/>
        </p:nvSpPr>
        <p:spPr>
          <a:xfrm>
            <a:off x="6126478" y="2161588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JSON, CSV e um TXT por questão</a:t>
            </a:r>
          </a:p>
        </p:txBody>
      </p:sp>
      <p:sp>
        <p:nvSpPr>
          <p:cNvPr id="99" name="Shape 10"/>
          <p:cNvSpPr/>
          <p:nvPr/>
        </p:nvSpPr>
        <p:spPr>
          <a:xfrm>
            <a:off x="1994221" y="3017731"/>
            <a:ext cx="2377442" cy="1234442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0" name="Text 11"/>
          <p:cNvSpPr txBox="1"/>
          <p:nvPr/>
        </p:nvSpPr>
        <p:spPr>
          <a:xfrm>
            <a:off x="2085662" y="3166413"/>
            <a:ext cx="219456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Uso</a:t>
            </a:r>
          </a:p>
        </p:txBody>
      </p:sp>
      <p:sp>
        <p:nvSpPr>
          <p:cNvPr id="101" name="Text 12"/>
          <p:cNvSpPr txBox="1"/>
          <p:nvPr/>
        </p:nvSpPr>
        <p:spPr>
          <a:xfrm>
            <a:off x="2085662" y="3611927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classificar por subárea e responder questões</a:t>
            </a:r>
          </a:p>
        </p:txBody>
      </p:sp>
      <p:sp>
        <p:nvSpPr>
          <p:cNvPr id="102" name="Shape 16"/>
          <p:cNvSpPr/>
          <p:nvPr/>
        </p:nvSpPr>
        <p:spPr>
          <a:xfrm>
            <a:off x="4662168" y="3017731"/>
            <a:ext cx="2377442" cy="1234442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03" name="Text 17"/>
          <p:cNvSpPr txBox="1"/>
          <p:nvPr/>
        </p:nvSpPr>
        <p:spPr>
          <a:xfrm>
            <a:off x="4753607" y="3166413"/>
            <a:ext cx="2194562" cy="431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8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Qualidade</a:t>
            </a:r>
          </a:p>
        </p:txBody>
      </p:sp>
      <p:sp>
        <p:nvSpPr>
          <p:cNvPr id="104" name="Text 18"/>
          <p:cNvSpPr txBox="1"/>
          <p:nvPr/>
        </p:nvSpPr>
        <p:spPr>
          <a:xfrm>
            <a:off x="4753607" y="3611927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94,7% das palavras estão no dicionário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Text 1"/>
          <p:cNvSpPr txBox="1"/>
          <p:nvPr/>
        </p:nvSpPr>
        <p:spPr>
          <a:xfrm>
            <a:off x="353726" y="2120900"/>
            <a:ext cx="843654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Corpus de Similaridade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 0"/>
          <p:cNvSpPr txBox="1"/>
          <p:nvPr/>
        </p:nvSpPr>
        <p:spPr>
          <a:xfrm>
            <a:off x="289612" y="872520"/>
            <a:ext cx="8564776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Das questões aos pares de palavras</a:t>
            </a:r>
          </a:p>
        </p:txBody>
      </p:sp>
      <p:sp>
        <p:nvSpPr>
          <p:cNvPr id="109" name="Text 25"/>
          <p:cNvSpPr txBox="1"/>
          <p:nvPr/>
        </p:nvSpPr>
        <p:spPr>
          <a:xfrm>
            <a:off x="457200" y="4199890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6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200 palavras distintas  →  100 pares anotados de 1 a 5</a:t>
            </a:r>
          </a:p>
        </p:txBody>
      </p:sp>
      <p:sp>
        <p:nvSpPr>
          <p:cNvPr id="110" name="Shape 1"/>
          <p:cNvSpPr/>
          <p:nvPr/>
        </p:nvSpPr>
        <p:spPr>
          <a:xfrm>
            <a:off x="457200" y="2282458"/>
            <a:ext cx="777242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1" name="Text 2"/>
          <p:cNvSpPr txBox="1"/>
          <p:nvPr/>
        </p:nvSpPr>
        <p:spPr>
          <a:xfrm>
            <a:off x="457199" y="2594879"/>
            <a:ext cx="7772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Tokenizar</a:t>
            </a:r>
          </a:p>
        </p:txBody>
      </p:sp>
      <p:sp>
        <p:nvSpPr>
          <p:cNvPr id="112" name="Text 3"/>
          <p:cNvSpPr txBox="1"/>
          <p:nvPr/>
        </p:nvSpPr>
        <p:spPr>
          <a:xfrm>
            <a:off x="137160" y="3132851"/>
            <a:ext cx="141732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spaCy pt_core_news_sm</a:t>
            </a:r>
          </a:p>
        </p:txBody>
      </p:sp>
      <p:sp>
        <p:nvSpPr>
          <p:cNvPr id="113" name="Shape 4"/>
          <p:cNvSpPr/>
          <p:nvPr/>
        </p:nvSpPr>
        <p:spPr>
          <a:xfrm>
            <a:off x="1307591" y="2671079"/>
            <a:ext cx="939549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4" name="Shape 5"/>
          <p:cNvSpPr/>
          <p:nvPr/>
        </p:nvSpPr>
        <p:spPr>
          <a:xfrm>
            <a:off x="2320288" y="2282458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5" name="Text 6"/>
          <p:cNvSpPr txBox="1"/>
          <p:nvPr/>
        </p:nvSpPr>
        <p:spPr>
          <a:xfrm>
            <a:off x="2320288" y="2594879"/>
            <a:ext cx="777243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Lematizar</a:t>
            </a:r>
          </a:p>
        </p:txBody>
      </p:sp>
      <p:sp>
        <p:nvSpPr>
          <p:cNvPr id="116" name="Text 7"/>
          <p:cNvSpPr txBox="1"/>
          <p:nvPr/>
        </p:nvSpPr>
        <p:spPr>
          <a:xfrm>
            <a:off x="2000250" y="3132851"/>
            <a:ext cx="1417320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forma base da palavra</a:t>
            </a:r>
          </a:p>
        </p:txBody>
      </p:sp>
      <p:sp>
        <p:nvSpPr>
          <p:cNvPr id="117" name="Shape 8"/>
          <p:cNvSpPr/>
          <p:nvPr/>
        </p:nvSpPr>
        <p:spPr>
          <a:xfrm>
            <a:off x="3170682" y="2671079"/>
            <a:ext cx="939548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18" name="Shape 9"/>
          <p:cNvSpPr/>
          <p:nvPr/>
        </p:nvSpPr>
        <p:spPr>
          <a:xfrm>
            <a:off x="4183379" y="2282458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19" name="Text 10"/>
          <p:cNvSpPr txBox="1"/>
          <p:nvPr/>
        </p:nvSpPr>
        <p:spPr>
          <a:xfrm>
            <a:off x="4183379" y="2594879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Stopwords</a:t>
            </a:r>
          </a:p>
        </p:txBody>
      </p:sp>
      <p:sp>
        <p:nvSpPr>
          <p:cNvPr id="120" name="Text 11"/>
          <p:cNvSpPr txBox="1"/>
          <p:nvPr/>
        </p:nvSpPr>
        <p:spPr>
          <a:xfrm>
            <a:off x="3863340" y="3132851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+ termos de prova, como "assinale"</a:t>
            </a:r>
          </a:p>
        </p:txBody>
      </p:sp>
      <p:sp>
        <p:nvSpPr>
          <p:cNvPr id="121" name="Shape 12"/>
          <p:cNvSpPr/>
          <p:nvPr/>
        </p:nvSpPr>
        <p:spPr>
          <a:xfrm>
            <a:off x="5033771" y="2671079"/>
            <a:ext cx="939548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2" name="Shape 13"/>
          <p:cNvSpPr/>
          <p:nvPr/>
        </p:nvSpPr>
        <p:spPr>
          <a:xfrm>
            <a:off x="6046470" y="2282458"/>
            <a:ext cx="777243" cy="777243"/>
          </a:xfrm>
          <a:prstGeom prst="ellipse">
            <a:avLst/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3" name="Text 14"/>
          <p:cNvSpPr txBox="1"/>
          <p:nvPr/>
        </p:nvSpPr>
        <p:spPr>
          <a:xfrm>
            <a:off x="6046470" y="2594879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Top 200</a:t>
            </a:r>
          </a:p>
        </p:txBody>
      </p:sp>
      <p:sp>
        <p:nvSpPr>
          <p:cNvPr id="124" name="Text 15"/>
          <p:cNvSpPr txBox="1"/>
          <p:nvPr/>
        </p:nvSpPr>
        <p:spPr>
          <a:xfrm>
            <a:off x="5726429" y="3132851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maior TF-IDF médio</a:t>
            </a:r>
          </a:p>
        </p:txBody>
      </p:sp>
      <p:sp>
        <p:nvSpPr>
          <p:cNvPr id="125" name="Shape 16"/>
          <p:cNvSpPr/>
          <p:nvPr/>
        </p:nvSpPr>
        <p:spPr>
          <a:xfrm>
            <a:off x="6896861" y="2671079"/>
            <a:ext cx="939549" cy="2"/>
          </a:xfrm>
          <a:prstGeom prst="line">
            <a:avLst/>
          </a:prstGeom>
          <a:ln w="19050">
            <a:solidFill>
              <a:srgbClr val="142B47"/>
            </a:solidFill>
            <a:tailEnd type="triangle"/>
          </a:ln>
        </p:spPr>
        <p:txBody>
          <a:bodyPr lIns="45718" tIns="45718" rIns="45718" bIns="45718"/>
          <a:lstStyle/>
          <a:p>
            <a:pPr/>
          </a:p>
        </p:txBody>
      </p:sp>
      <p:sp>
        <p:nvSpPr>
          <p:cNvPr id="126" name="Shape 17"/>
          <p:cNvSpPr/>
          <p:nvPr/>
        </p:nvSpPr>
        <p:spPr>
          <a:xfrm>
            <a:off x="7909559" y="2282458"/>
            <a:ext cx="777243" cy="777243"/>
          </a:xfrm>
          <a:prstGeom prst="ellipse">
            <a:avLst/>
          </a:prstGeom>
          <a:solidFill>
            <a:srgbClr val="C24F80"/>
          </a:solidFill>
          <a:ln w="12700">
            <a:solidFill>
              <a:srgbClr val="C24F80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27" name="Text 18"/>
          <p:cNvSpPr txBox="1"/>
          <p:nvPr/>
        </p:nvSpPr>
        <p:spPr>
          <a:xfrm>
            <a:off x="7909559" y="2594879"/>
            <a:ext cx="77724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100 pares</a:t>
            </a:r>
          </a:p>
        </p:txBody>
      </p:sp>
      <p:sp>
        <p:nvSpPr>
          <p:cNvPr id="128" name="Text 19"/>
          <p:cNvSpPr txBox="1"/>
          <p:nvPr/>
        </p:nvSpPr>
        <p:spPr>
          <a:xfrm>
            <a:off x="7589518" y="3132851"/>
            <a:ext cx="1417322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2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sorteio com semente 42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Text 0"/>
          <p:cNvSpPr txBox="1"/>
          <p:nvPr/>
        </p:nvSpPr>
        <p:spPr>
          <a:xfrm>
            <a:off x="457200" y="660399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Escala de similaridade</a:t>
            </a:r>
          </a:p>
        </p:txBody>
      </p:sp>
      <p:graphicFrame>
        <p:nvGraphicFramePr>
          <p:cNvPr id="131" name="Table 0"/>
          <p:cNvGraphicFramePr/>
          <p:nvPr/>
        </p:nvGraphicFramePr>
        <p:xfrm>
          <a:off x="914400" y="1422400"/>
          <a:ext cx="7315200" cy="274320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143000"/>
                <a:gridCol w="1905000"/>
                <a:gridCol w="42672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Nota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Na escala da aula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Significado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nenhuma semelhança de significado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0,25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baixa: ligação só de tema ou função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moderada: propriedades em comum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0,75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alta: significados próximos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5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5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muito alta: sinônimos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Shape 2"/>
          <p:cNvSpPr/>
          <p:nvPr/>
        </p:nvSpPr>
        <p:spPr>
          <a:xfrm>
            <a:off x="5168315" y="1732252"/>
            <a:ext cx="2647849" cy="2037450"/>
          </a:xfrm>
          <a:prstGeom prst="roundRect">
            <a:avLst>
              <a:gd name="adj" fmla="val 758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4" name="Shape 2"/>
          <p:cNvSpPr/>
          <p:nvPr/>
        </p:nvSpPr>
        <p:spPr>
          <a:xfrm>
            <a:off x="1327836" y="1732252"/>
            <a:ext cx="2647849" cy="2037450"/>
          </a:xfrm>
          <a:prstGeom prst="roundRect">
            <a:avLst>
              <a:gd name="adj" fmla="val 758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35" name="Text 0"/>
          <p:cNvSpPr txBox="1"/>
          <p:nvPr/>
        </p:nvSpPr>
        <p:spPr>
          <a:xfrm>
            <a:off x="457200" y="660657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Concordância entre anotadores</a:t>
            </a:r>
          </a:p>
        </p:txBody>
      </p:sp>
      <p:sp>
        <p:nvSpPr>
          <p:cNvPr id="136" name="Text 1"/>
          <p:cNvSpPr txBox="1"/>
          <p:nvPr/>
        </p:nvSpPr>
        <p:spPr>
          <a:xfrm>
            <a:off x="457200" y="1279147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1B3A6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 alunas (Luiza e Rafaela) anotaram os 100 pares sem ver as notas uma da outra</a:t>
            </a:r>
          </a:p>
        </p:txBody>
      </p:sp>
      <p:sp>
        <p:nvSpPr>
          <p:cNvPr id="137" name="Text 2"/>
          <p:cNvSpPr txBox="1"/>
          <p:nvPr/>
        </p:nvSpPr>
        <p:spPr>
          <a:xfrm>
            <a:off x="914400" y="1977417"/>
            <a:ext cx="34747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600">
                <a:solidFill>
                  <a:srgbClr val="B3DD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0,79</a:t>
            </a:r>
          </a:p>
        </p:txBody>
      </p:sp>
      <p:sp>
        <p:nvSpPr>
          <p:cNvPr id="138" name="Text 3"/>
          <p:cNvSpPr txBox="1"/>
          <p:nvPr/>
        </p:nvSpPr>
        <p:spPr>
          <a:xfrm>
            <a:off x="1363466" y="2875472"/>
            <a:ext cx="2576589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Kappa de Cohen ponderado (linear)</a:t>
            </a:r>
          </a:p>
        </p:txBody>
      </p:sp>
      <p:sp>
        <p:nvSpPr>
          <p:cNvPr id="139" name="Text 4"/>
          <p:cNvSpPr txBox="1"/>
          <p:nvPr/>
        </p:nvSpPr>
        <p:spPr>
          <a:xfrm>
            <a:off x="4754879" y="1977417"/>
            <a:ext cx="34747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5600">
                <a:solidFill>
                  <a:srgbClr val="B3DD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0,83</a:t>
            </a:r>
          </a:p>
        </p:txBody>
      </p:sp>
      <p:sp>
        <p:nvSpPr>
          <p:cNvPr id="140" name="Text 5"/>
          <p:cNvSpPr txBox="1"/>
          <p:nvPr/>
        </p:nvSpPr>
        <p:spPr>
          <a:xfrm>
            <a:off x="4943040" y="2875472"/>
            <a:ext cx="3098399" cy="736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4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Correlação de Spearman</a:t>
            </a:r>
          </a:p>
        </p:txBody>
      </p:sp>
      <p:sp>
        <p:nvSpPr>
          <p:cNvPr id="141" name="Text 6"/>
          <p:cNvSpPr txBox="1"/>
          <p:nvPr/>
        </p:nvSpPr>
        <p:spPr>
          <a:xfrm>
            <a:off x="457199" y="4231694"/>
            <a:ext cx="822960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400">
                <a:solidFill>
                  <a:srgbClr val="1B3A6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Mesma nota em 89 pares; nos outros 11, diferença de 1 ponto. 66 pares tiveram nota mínima das duas: o sorteio gerou poucos pares parecidos.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Text 0"/>
          <p:cNvSpPr txBox="1"/>
          <p:nvPr/>
        </p:nvSpPr>
        <p:spPr>
          <a:xfrm>
            <a:off x="457200" y="618285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Formato do CSV</a:t>
            </a:r>
          </a:p>
        </p:txBody>
      </p:sp>
      <p:sp>
        <p:nvSpPr>
          <p:cNvPr id="144" name="Shape 1"/>
          <p:cNvSpPr/>
          <p:nvPr/>
        </p:nvSpPr>
        <p:spPr>
          <a:xfrm>
            <a:off x="1371599" y="1471526"/>
            <a:ext cx="6400801" cy="2886793"/>
          </a:xfrm>
          <a:prstGeom prst="roundRect">
            <a:avLst>
              <a:gd name="adj" fmla="val 2534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5" name="Text 2"/>
          <p:cNvSpPr txBox="1"/>
          <p:nvPr/>
        </p:nvSpPr>
        <p:spPr>
          <a:xfrm>
            <a:off x="1554478" y="1695722"/>
            <a:ext cx="6035043" cy="243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20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id_par,palavra_1,palavra_2,nota_1,nota_2,similaridade_media</a:t>
            </a:r>
          </a:p>
          <a:p>
            <a:pPr>
              <a:defRPr sz="20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P001,ferramenta,plataforma,3,3,3.0</a:t>
            </a:r>
          </a:p>
          <a:p>
            <a:pPr>
              <a:defRPr sz="20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P002,criptografia,chamar,1,1,1.0</a:t>
            </a:r>
          </a:p>
          <a:p>
            <a:pPr>
              <a:defRPr sz="20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P004,protocolo,segurança,2,2,2.0</a:t>
            </a:r>
          </a:p>
          <a:p>
            <a:pPr>
              <a:defRPr sz="20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...</a:t>
            </a:r>
          </a:p>
          <a:p>
            <a:pPr>
              <a:defRPr sz="2000">
                <a:solidFill>
                  <a:srgbClr val="E6F1FA"/>
                </a:solidFill>
                <a:latin typeface="Menlo Regular"/>
                <a:ea typeface="Menlo Regular"/>
                <a:cs typeface="Menlo Regular"/>
                <a:sym typeface="Menlo Regular"/>
              </a:defRPr>
            </a:pPr>
            <a:r>
              <a:t>(também: nome das anotadoras, mediana, amplitude e revisar)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 txBox="1"/>
          <p:nvPr/>
        </p:nvSpPr>
        <p:spPr>
          <a:xfrm>
            <a:off x="457200" y="541876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Dataset card da similaridade</a:t>
            </a:r>
          </a:p>
        </p:txBody>
      </p:sp>
      <p:sp>
        <p:nvSpPr>
          <p:cNvPr id="148" name="Shape 1"/>
          <p:cNvSpPr/>
          <p:nvPr/>
        </p:nvSpPr>
        <p:spPr>
          <a:xfrm>
            <a:off x="731520" y="1554447"/>
            <a:ext cx="2377441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49" name="Text 2"/>
          <p:cNvSpPr txBox="1"/>
          <p:nvPr/>
        </p:nvSpPr>
        <p:spPr>
          <a:xfrm>
            <a:off x="822960" y="1648300"/>
            <a:ext cx="21945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Fonte</a:t>
            </a:r>
          </a:p>
        </p:txBody>
      </p:sp>
      <p:sp>
        <p:nvSpPr>
          <p:cNvPr id="150" name="Text 3"/>
          <p:cNvSpPr txBox="1"/>
          <p:nvPr/>
        </p:nvSpPr>
        <p:spPr>
          <a:xfrm>
            <a:off x="822960" y="2106516"/>
            <a:ext cx="21945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200 lemas do corpus de questões</a:t>
            </a:r>
          </a:p>
        </p:txBody>
      </p:sp>
      <p:sp>
        <p:nvSpPr>
          <p:cNvPr id="151" name="Shape 4"/>
          <p:cNvSpPr/>
          <p:nvPr/>
        </p:nvSpPr>
        <p:spPr>
          <a:xfrm>
            <a:off x="3383279" y="1554447"/>
            <a:ext cx="2377442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2" name="Text 5"/>
          <p:cNvSpPr txBox="1"/>
          <p:nvPr/>
        </p:nvSpPr>
        <p:spPr>
          <a:xfrm>
            <a:off x="3474720" y="1648300"/>
            <a:ext cx="21945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Tamanho</a:t>
            </a:r>
          </a:p>
        </p:txBody>
      </p:sp>
      <p:sp>
        <p:nvSpPr>
          <p:cNvPr id="153" name="Text 6"/>
          <p:cNvSpPr txBox="1"/>
          <p:nvPr/>
        </p:nvSpPr>
        <p:spPr>
          <a:xfrm>
            <a:off x="3474720" y="2106516"/>
            <a:ext cx="21945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100 pares, 2 anotadoras</a:t>
            </a:r>
          </a:p>
        </p:txBody>
      </p:sp>
      <p:sp>
        <p:nvSpPr>
          <p:cNvPr id="154" name="Shape 7"/>
          <p:cNvSpPr/>
          <p:nvPr/>
        </p:nvSpPr>
        <p:spPr>
          <a:xfrm>
            <a:off x="6035040" y="1554447"/>
            <a:ext cx="2377442" cy="1234441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5" name="Text 8"/>
          <p:cNvSpPr txBox="1"/>
          <p:nvPr/>
        </p:nvSpPr>
        <p:spPr>
          <a:xfrm>
            <a:off x="6126479" y="1648300"/>
            <a:ext cx="21945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Formato</a:t>
            </a:r>
          </a:p>
        </p:txBody>
      </p:sp>
      <p:sp>
        <p:nvSpPr>
          <p:cNvPr id="156" name="Text 9"/>
          <p:cNvSpPr txBox="1"/>
          <p:nvPr/>
        </p:nvSpPr>
        <p:spPr>
          <a:xfrm>
            <a:off x="6126479" y="2106516"/>
            <a:ext cx="21945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CSV com as notas, média e mediana</a:t>
            </a:r>
          </a:p>
        </p:txBody>
      </p:sp>
      <p:sp>
        <p:nvSpPr>
          <p:cNvPr id="157" name="Shape 10"/>
          <p:cNvSpPr/>
          <p:nvPr/>
        </p:nvSpPr>
        <p:spPr>
          <a:xfrm>
            <a:off x="731520" y="2992308"/>
            <a:ext cx="2377441" cy="1234442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58" name="Text 11"/>
          <p:cNvSpPr txBox="1"/>
          <p:nvPr/>
        </p:nvSpPr>
        <p:spPr>
          <a:xfrm>
            <a:off x="822960" y="3111341"/>
            <a:ext cx="21945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Uso</a:t>
            </a:r>
          </a:p>
        </p:txBody>
      </p:sp>
      <p:sp>
        <p:nvSpPr>
          <p:cNvPr id="159" name="Text 12"/>
          <p:cNvSpPr txBox="1"/>
          <p:nvPr/>
        </p:nvSpPr>
        <p:spPr>
          <a:xfrm>
            <a:off x="774065" y="3569554"/>
            <a:ext cx="2292351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comparar modelos com a percepção humana</a:t>
            </a:r>
          </a:p>
        </p:txBody>
      </p:sp>
      <p:sp>
        <p:nvSpPr>
          <p:cNvPr id="160" name="Shape 13"/>
          <p:cNvSpPr/>
          <p:nvPr/>
        </p:nvSpPr>
        <p:spPr>
          <a:xfrm>
            <a:off x="3383279" y="2992308"/>
            <a:ext cx="2377442" cy="1234442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1" name="Text 14"/>
          <p:cNvSpPr txBox="1"/>
          <p:nvPr/>
        </p:nvSpPr>
        <p:spPr>
          <a:xfrm>
            <a:off x="3474720" y="3111341"/>
            <a:ext cx="21945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Limitações</a:t>
            </a:r>
          </a:p>
        </p:txBody>
      </p:sp>
      <p:sp>
        <p:nvSpPr>
          <p:cNvPr id="162" name="Text 15"/>
          <p:cNvSpPr txBox="1"/>
          <p:nvPr/>
        </p:nvSpPr>
        <p:spPr>
          <a:xfrm>
            <a:off x="3474720" y="3569554"/>
            <a:ext cx="21945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pares sorteados: 66 com nota mínima</a:t>
            </a:r>
          </a:p>
        </p:txBody>
      </p:sp>
      <p:sp>
        <p:nvSpPr>
          <p:cNvPr id="163" name="Shape 16"/>
          <p:cNvSpPr/>
          <p:nvPr/>
        </p:nvSpPr>
        <p:spPr>
          <a:xfrm>
            <a:off x="6035039" y="2992308"/>
            <a:ext cx="2377442" cy="1234442"/>
          </a:xfrm>
          <a:prstGeom prst="roundRect">
            <a:avLst>
              <a:gd name="adj" fmla="val 11111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64" name="Text 17"/>
          <p:cNvSpPr txBox="1"/>
          <p:nvPr/>
        </p:nvSpPr>
        <p:spPr>
          <a:xfrm>
            <a:off x="6126479" y="3111341"/>
            <a:ext cx="2194562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9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Qualidade</a:t>
            </a:r>
          </a:p>
        </p:txBody>
      </p:sp>
      <p:sp>
        <p:nvSpPr>
          <p:cNvPr id="165" name="Text 18"/>
          <p:cNvSpPr txBox="1"/>
          <p:nvPr/>
        </p:nvSpPr>
        <p:spPr>
          <a:xfrm>
            <a:off x="6126479" y="3569554"/>
            <a:ext cx="2194562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7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kappa linear de 0,79 entre as anotadoras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1"/>
          <p:cNvSpPr txBox="1"/>
          <p:nvPr/>
        </p:nvSpPr>
        <p:spPr>
          <a:xfrm>
            <a:off x="353726" y="2120900"/>
            <a:ext cx="8436548" cy="901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6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Classificação de Texto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Text 0"/>
          <p:cNvSpPr txBox="1"/>
          <p:nvPr/>
        </p:nvSpPr>
        <p:spPr>
          <a:xfrm>
            <a:off x="457200" y="465745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Três formas de representar o texto</a:t>
            </a:r>
          </a:p>
        </p:txBody>
      </p:sp>
      <p:sp>
        <p:nvSpPr>
          <p:cNvPr id="170" name="Text 1"/>
          <p:cNvSpPr txBox="1"/>
          <p:nvPr/>
        </p:nvSpPr>
        <p:spPr>
          <a:xfrm>
            <a:off x="457200" y="1071534"/>
            <a:ext cx="822960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mesmos classificadores, mesma divisão treino/teste</a:t>
            </a:r>
          </a:p>
        </p:txBody>
      </p:sp>
      <p:sp>
        <p:nvSpPr>
          <p:cNvPr id="171" name="Shape 2"/>
          <p:cNvSpPr/>
          <p:nvPr/>
        </p:nvSpPr>
        <p:spPr>
          <a:xfrm>
            <a:off x="731520" y="1718772"/>
            <a:ext cx="2377442" cy="1920241"/>
          </a:xfrm>
          <a:prstGeom prst="roundRect">
            <a:avLst>
              <a:gd name="adj" fmla="val 714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2" name="Text 3"/>
          <p:cNvSpPr txBox="1"/>
          <p:nvPr/>
        </p:nvSpPr>
        <p:spPr>
          <a:xfrm>
            <a:off x="822960" y="2134616"/>
            <a:ext cx="21945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BoW + TF-IDF</a:t>
            </a:r>
          </a:p>
        </p:txBody>
      </p:sp>
      <p:sp>
        <p:nvSpPr>
          <p:cNvPr id="173" name="Text 4"/>
          <p:cNvSpPr txBox="1"/>
          <p:nvPr/>
        </p:nvSpPr>
        <p:spPr>
          <a:xfrm>
            <a:off x="822960" y="2610610"/>
            <a:ext cx="2194562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contagem de palavras com peso pela raridade</a:t>
            </a:r>
          </a:p>
        </p:txBody>
      </p:sp>
      <p:sp>
        <p:nvSpPr>
          <p:cNvPr id="174" name="Shape 5"/>
          <p:cNvSpPr/>
          <p:nvPr/>
        </p:nvSpPr>
        <p:spPr>
          <a:xfrm>
            <a:off x="3383279" y="1718772"/>
            <a:ext cx="2377442" cy="1920241"/>
          </a:xfrm>
          <a:prstGeom prst="roundRect">
            <a:avLst>
              <a:gd name="adj" fmla="val 714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5" name="Text 6"/>
          <p:cNvSpPr txBox="1"/>
          <p:nvPr/>
        </p:nvSpPr>
        <p:spPr>
          <a:xfrm>
            <a:off x="3474720" y="2134616"/>
            <a:ext cx="21945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spaCy</a:t>
            </a:r>
          </a:p>
        </p:txBody>
      </p:sp>
      <p:sp>
        <p:nvSpPr>
          <p:cNvPr id="176" name="Text 7"/>
          <p:cNvSpPr txBox="1"/>
          <p:nvPr/>
        </p:nvSpPr>
        <p:spPr>
          <a:xfrm>
            <a:off x="3474720" y="2610610"/>
            <a:ext cx="2194562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pt_core_news_lg</a:t>
            </a:r>
          </a:p>
          <a:p>
            <a: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média dos vetores das palavras</a:t>
            </a:r>
          </a:p>
        </p:txBody>
      </p:sp>
      <p:sp>
        <p:nvSpPr>
          <p:cNvPr id="177" name="Shape 8"/>
          <p:cNvSpPr/>
          <p:nvPr/>
        </p:nvSpPr>
        <p:spPr>
          <a:xfrm>
            <a:off x="6035038" y="1718772"/>
            <a:ext cx="2377442" cy="1920241"/>
          </a:xfrm>
          <a:prstGeom prst="roundRect">
            <a:avLst>
              <a:gd name="adj" fmla="val 7143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78" name="Text 9"/>
          <p:cNvSpPr txBox="1"/>
          <p:nvPr/>
        </p:nvSpPr>
        <p:spPr>
          <a:xfrm>
            <a:off x="6126479" y="2134616"/>
            <a:ext cx="2194562" cy="393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BERT</a:t>
            </a:r>
          </a:p>
        </p:txBody>
      </p:sp>
      <p:sp>
        <p:nvSpPr>
          <p:cNvPr id="179" name="Text 10"/>
          <p:cNvSpPr txBox="1"/>
          <p:nvPr/>
        </p:nvSpPr>
        <p:spPr>
          <a:xfrm>
            <a:off x="6126479" y="2610610"/>
            <a:ext cx="2194562" cy="800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BERTimbau</a:t>
            </a:r>
          </a:p>
          <a:p>
            <a:pPr algn="ctr">
              <a:defRPr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média dos tokens da última camada</a:t>
            </a:r>
          </a:p>
        </p:txBody>
      </p:sp>
      <p:sp>
        <p:nvSpPr>
          <p:cNvPr id="180" name="Text 11"/>
          <p:cNvSpPr txBox="1"/>
          <p:nvPr/>
        </p:nvSpPr>
        <p:spPr>
          <a:xfrm>
            <a:off x="457200" y="4019548"/>
            <a:ext cx="8229600" cy="190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3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k-NN (k=3, como na aula) e regressão logística  ·  treino/teste 80/20 estratificado  ·  F1-macro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Text 0"/>
          <p:cNvSpPr txBox="1"/>
          <p:nvPr/>
        </p:nvSpPr>
        <p:spPr>
          <a:xfrm>
            <a:off x="457200" y="710334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Parâmetros do TF-IDF</a:t>
            </a:r>
          </a:p>
        </p:txBody>
      </p:sp>
      <p:graphicFrame>
        <p:nvGraphicFramePr>
          <p:cNvPr id="183" name="Table 0"/>
          <p:cNvGraphicFramePr/>
          <p:nvPr/>
        </p:nvGraphicFramePr>
        <p:xfrm>
          <a:off x="731519" y="1519268"/>
          <a:ext cx="7680961" cy="2633474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1828800"/>
                <a:gridCol w="1280160"/>
                <a:gridCol w="4572000"/>
              </a:tblGrid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Parâmetro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Valor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Por quê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max_features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10.000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testamos de 200 até todas; estabiliza perto de 5 mil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stop_words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spaCy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igual à aula; melhora um pouco o F1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ngram_range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(1, 1)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bigramas pioram o k-NN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max_df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1,0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 (da aula) não muda nada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sublinear_tf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True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3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log da contagem, como na aula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 0"/>
          <p:cNvSpPr txBox="1"/>
          <p:nvPr/>
        </p:nvSpPr>
        <p:spPr>
          <a:xfrm>
            <a:off x="457200" y="861650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186" name="Text 1"/>
          <p:cNvSpPr txBox="1"/>
          <p:nvPr/>
        </p:nvSpPr>
        <p:spPr>
          <a:xfrm>
            <a:off x="457200" y="1480139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conjunto de teste, 502 questões  ·  regressão logística, e o k-NN na última coluna</a:t>
            </a:r>
          </a:p>
        </p:txBody>
      </p:sp>
      <p:graphicFrame>
        <p:nvGraphicFramePr>
          <p:cNvPr id="187" name="Table 0"/>
          <p:cNvGraphicFramePr/>
          <p:nvPr/>
        </p:nvGraphicFramePr>
        <p:xfrm>
          <a:off x="921353" y="1906444"/>
          <a:ext cx="7313994" cy="2364010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959983"/>
                <a:gridCol w="1381325"/>
                <a:gridCol w="1381325"/>
                <a:gridCol w="1578657"/>
              </a:tblGrid>
              <a:tr h="58782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Representação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Acurácia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F1-macro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F1 com k-NN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58782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BoW + TF-IDF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0,912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0,910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0,881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82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spaCy pt_core_news_lg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0,851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0,832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0,426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87827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BERTimbau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0,813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0,804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0,753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Text 0"/>
          <p:cNvSpPr txBox="1"/>
          <p:nvPr/>
        </p:nvSpPr>
        <p:spPr>
          <a:xfrm>
            <a:off x="457200" y="289559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Por que o TF-IDF ganhou</a:t>
            </a:r>
          </a:p>
        </p:txBody>
      </p:sp>
      <p:sp>
        <p:nvSpPr>
          <p:cNvPr id="190" name="Text 1"/>
          <p:cNvSpPr txBox="1"/>
          <p:nvPr/>
        </p:nvSpPr>
        <p:spPr>
          <a:xfrm>
            <a:off x="731518" y="1023619"/>
            <a:ext cx="3657603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Vantagens do TF-IDF</a:t>
            </a:r>
          </a:p>
        </p:txBody>
      </p:sp>
      <p:sp>
        <p:nvSpPr>
          <p:cNvPr id="191" name="Text 2"/>
          <p:cNvSpPr txBox="1"/>
          <p:nvPr/>
        </p:nvSpPr>
        <p:spPr>
          <a:xfrm>
            <a:off x="4754879" y="1023619"/>
            <a:ext cx="365760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22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Problemas dos embeddings</a:t>
            </a:r>
          </a:p>
        </p:txBody>
      </p:sp>
      <p:sp>
        <p:nvSpPr>
          <p:cNvPr id="192" name="Shape 3"/>
          <p:cNvSpPr/>
          <p:nvPr/>
        </p:nvSpPr>
        <p:spPr>
          <a:xfrm>
            <a:off x="731519" y="1463038"/>
            <a:ext cx="3657602" cy="2926083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3" name="Text 4"/>
          <p:cNvSpPr txBox="1"/>
          <p:nvPr/>
        </p:nvSpPr>
        <p:spPr>
          <a:xfrm>
            <a:off x="856157" y="1935479"/>
            <a:ext cx="3408325" cy="1981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Termos técnicos decidem a subárea (SELECT, ITIL, IPSec)</a:t>
            </a:r>
          </a:p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 TF-IDF dá peso direto aos termos raros</a:t>
            </a:r>
          </a:p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Os rótulos também vieram de palavras-chave</a:t>
            </a:r>
          </a:p>
        </p:txBody>
      </p:sp>
      <p:sp>
        <p:nvSpPr>
          <p:cNvPr id="194" name="Shape 5"/>
          <p:cNvSpPr/>
          <p:nvPr/>
        </p:nvSpPr>
        <p:spPr>
          <a:xfrm>
            <a:off x="4754879" y="1463038"/>
            <a:ext cx="3657602" cy="2926083"/>
          </a:xfrm>
          <a:prstGeom prst="roundRect">
            <a:avLst>
              <a:gd name="adj" fmla="val 4688"/>
            </a:avLst>
          </a:prstGeom>
          <a:solidFill>
            <a:srgbClr val="142B4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195" name="Text 6"/>
          <p:cNvSpPr txBox="1"/>
          <p:nvPr/>
        </p:nvSpPr>
        <p:spPr>
          <a:xfrm>
            <a:off x="4822463" y="1744979"/>
            <a:ext cx="3522433" cy="2362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A média dos vetores dilui os termos técnicos</a:t>
            </a:r>
          </a:p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k-NN com spaCy desaba</a:t>
            </a:r>
          </a:p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sem ajuste: vetor genérico da frase</a:t>
            </a:r>
          </a:p>
          <a:p>
            <a:pPr algn="ctr">
              <a:spcBef>
                <a:spcPts val="600"/>
              </a:spcBef>
              <a:defRPr sz="2000">
                <a:solidFill>
                  <a:srgbClr val="E6F1FA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Das 26 questões que todos erram, várias têm rótulo errado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 1"/>
          <p:cNvSpPr txBox="1"/>
          <p:nvPr/>
        </p:nvSpPr>
        <p:spPr>
          <a:xfrm>
            <a:off x="290729" y="2133599"/>
            <a:ext cx="8562542" cy="876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5800">
                <a:solidFill>
                  <a:srgbClr val="C24F80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Similaridade de Palavras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Text 0"/>
          <p:cNvSpPr txBox="1"/>
          <p:nvPr/>
        </p:nvSpPr>
        <p:spPr>
          <a:xfrm>
            <a:off x="457200" y="643709"/>
            <a:ext cx="8229601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Como medimos</a:t>
            </a:r>
          </a:p>
        </p:txBody>
      </p:sp>
      <p:sp>
        <p:nvSpPr>
          <p:cNvPr id="200" name="Text 1"/>
          <p:cNvSpPr txBox="1"/>
          <p:nvPr/>
        </p:nvSpPr>
        <p:spPr>
          <a:xfrm>
            <a:off x="457200" y="1262198"/>
            <a:ext cx="82296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nota do modelo vs. nota humana, na escala da aula (0 a 1)</a:t>
            </a:r>
          </a:p>
        </p:txBody>
      </p:sp>
      <p:sp>
        <p:nvSpPr>
          <p:cNvPr id="201" name="Shape 2"/>
          <p:cNvSpPr/>
          <p:nvPr/>
        </p:nvSpPr>
        <p:spPr>
          <a:xfrm>
            <a:off x="731520" y="1910522"/>
            <a:ext cx="2377442" cy="1828802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2" name="Text 3"/>
          <p:cNvSpPr txBox="1"/>
          <p:nvPr/>
        </p:nvSpPr>
        <p:spPr>
          <a:xfrm>
            <a:off x="822960" y="2257740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spaCy</a:t>
            </a:r>
          </a:p>
        </p:txBody>
      </p:sp>
      <p:sp>
        <p:nvSpPr>
          <p:cNvPr id="203" name="Text 4"/>
          <p:cNvSpPr txBox="1"/>
          <p:nvPr/>
        </p:nvSpPr>
        <p:spPr>
          <a:xfrm>
            <a:off x="822960" y="2813492"/>
            <a:ext cx="219456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cosseno entre os vetores das duas palavras</a:t>
            </a:r>
          </a:p>
        </p:txBody>
      </p:sp>
      <p:sp>
        <p:nvSpPr>
          <p:cNvPr id="204" name="Shape 5"/>
          <p:cNvSpPr/>
          <p:nvPr/>
        </p:nvSpPr>
        <p:spPr>
          <a:xfrm>
            <a:off x="3383279" y="1910522"/>
            <a:ext cx="2377442" cy="1828802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5" name="Text 6"/>
          <p:cNvSpPr txBox="1"/>
          <p:nvPr/>
        </p:nvSpPr>
        <p:spPr>
          <a:xfrm>
            <a:off x="3474720" y="2257740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BERT</a:t>
            </a:r>
          </a:p>
        </p:txBody>
      </p:sp>
      <p:sp>
        <p:nvSpPr>
          <p:cNvPr id="206" name="Text 7"/>
          <p:cNvSpPr txBox="1"/>
          <p:nvPr/>
        </p:nvSpPr>
        <p:spPr>
          <a:xfrm>
            <a:off x="3474720" y="2813492"/>
            <a:ext cx="219456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cosseno entre os vetores de cada palavra (média dos subtokens)</a:t>
            </a:r>
          </a:p>
        </p:txBody>
      </p:sp>
      <p:sp>
        <p:nvSpPr>
          <p:cNvPr id="207" name="Shape 8"/>
          <p:cNvSpPr/>
          <p:nvPr/>
        </p:nvSpPr>
        <p:spPr>
          <a:xfrm>
            <a:off x="6035038" y="1910522"/>
            <a:ext cx="2377442" cy="1828802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08" name="Text 9"/>
          <p:cNvSpPr txBox="1"/>
          <p:nvPr/>
        </p:nvSpPr>
        <p:spPr>
          <a:xfrm>
            <a:off x="6126479" y="2257740"/>
            <a:ext cx="2194562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32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LLM</a:t>
            </a:r>
          </a:p>
        </p:txBody>
      </p:sp>
      <p:sp>
        <p:nvSpPr>
          <p:cNvPr id="209" name="Text 10"/>
          <p:cNvSpPr txBox="1"/>
          <p:nvPr/>
        </p:nvSpPr>
        <p:spPr>
          <a:xfrm>
            <a:off x="6126479" y="2813492"/>
            <a:ext cx="2194562" cy="723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algn="ctr">
              <a:defRPr sz="16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Gemini 3.5 Flash dá um grau de 0 a 1, com os exemplos da aula</a:t>
            </a:r>
          </a:p>
        </p:txBody>
      </p:sp>
      <p:sp>
        <p:nvSpPr>
          <p:cNvPr id="210" name="Text 11"/>
          <p:cNvSpPr txBox="1"/>
          <p:nvPr/>
        </p:nvSpPr>
        <p:spPr>
          <a:xfrm>
            <a:off x="457199" y="4409055"/>
            <a:ext cx="8229601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Comparação com Spearman, nos dois datasets: o nosso e o feito em aula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 0"/>
          <p:cNvSpPr txBox="1"/>
          <p:nvPr/>
        </p:nvSpPr>
        <p:spPr>
          <a:xfrm>
            <a:off x="457200" y="380999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Resultados</a:t>
            </a:r>
          </a:p>
        </p:txBody>
      </p:sp>
      <p:sp>
        <p:nvSpPr>
          <p:cNvPr id="213" name="Text 1"/>
          <p:cNvSpPr txBox="1"/>
          <p:nvPr/>
        </p:nvSpPr>
        <p:spPr>
          <a:xfrm>
            <a:off x="457200" y="999488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correlação de Spearman com a anotação humana</a:t>
            </a:r>
          </a:p>
        </p:txBody>
      </p:sp>
      <p:graphicFrame>
        <p:nvGraphicFramePr>
          <p:cNvPr id="214" name="Table 0"/>
          <p:cNvGraphicFramePr/>
          <p:nvPr/>
        </p:nvGraphicFramePr>
        <p:xfrm>
          <a:off x="1371600" y="1417319"/>
          <a:ext cx="6400800" cy="2286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7432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Modelo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Nosso dataset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FFFFFF"/>
                          </a:solidFill>
                          <a:latin typeface="SF Pro Bold"/>
                          <a:ea typeface="SF Pro Bold"/>
                          <a:cs typeface="SF Pro Bold"/>
                          <a:sym typeface="SF Pro Bold"/>
                        </a:rPr>
                        <a:t>Dataset da aula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142B4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spaCy pt_core_news_lg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0,30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0,07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BERTimbau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0,23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0,11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LLM (Gemini)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0,68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0,53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Concordância humana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0,83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sz="1400">
                          <a:solidFill>
                            <a:srgbClr val="142B47"/>
                          </a:solidFill>
                          <a:latin typeface="SF Pro Regular"/>
                          <a:ea typeface="SF Pro Regular"/>
                          <a:cs typeface="SF Pro Regular"/>
                          <a:sym typeface="SF Pro Regular"/>
                        </a:rPr>
                        <a:t>0,35 a 0,40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C9DCEE"/>
                      </a:solidFill>
                    </a:lnL>
                    <a:lnR w="12700">
                      <a:solidFill>
                        <a:srgbClr val="C9DCEE"/>
                      </a:solidFill>
                    </a:lnR>
                    <a:lnT w="12700">
                      <a:solidFill>
                        <a:srgbClr val="C9DCEE"/>
                      </a:solidFill>
                    </a:lnT>
                    <a:lnB w="12700">
                      <a:solidFill>
                        <a:srgbClr val="C9DC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5" name="Text 2"/>
          <p:cNvSpPr txBox="1"/>
          <p:nvPr/>
        </p:nvSpPr>
        <p:spPr>
          <a:xfrm>
            <a:off x="457200" y="4127500"/>
            <a:ext cx="8229600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14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O Gemini é o único perto das pessoas; no dataset de aula, até as alunas concordam pouco entre si.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 0"/>
          <p:cNvSpPr txBox="1"/>
          <p:nvPr/>
        </p:nvSpPr>
        <p:spPr>
          <a:xfrm>
            <a:off x="457200" y="380999"/>
            <a:ext cx="8229600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4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Três pares que explicam</a:t>
            </a:r>
          </a:p>
        </p:txBody>
      </p:sp>
      <p:sp>
        <p:nvSpPr>
          <p:cNvPr id="218" name="Text 1"/>
          <p:cNvSpPr txBox="1"/>
          <p:nvPr/>
        </p:nvSpPr>
        <p:spPr>
          <a:xfrm>
            <a:off x="457200" y="999488"/>
            <a:ext cx="8229600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600">
                <a:solidFill>
                  <a:srgbClr val="4A6C93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nota das pessoas e de cada modelo</a:t>
            </a:r>
          </a:p>
        </p:txBody>
      </p:sp>
      <p:sp>
        <p:nvSpPr>
          <p:cNvPr id="219" name="Shape 2"/>
          <p:cNvSpPr/>
          <p:nvPr/>
        </p:nvSpPr>
        <p:spPr>
          <a:xfrm>
            <a:off x="731519" y="1554480"/>
            <a:ext cx="2377441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0" name="Text 3"/>
          <p:cNvSpPr txBox="1"/>
          <p:nvPr/>
        </p:nvSpPr>
        <p:spPr>
          <a:xfrm>
            <a:off x="822960" y="2182366"/>
            <a:ext cx="21945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tcp / ordem</a:t>
            </a:r>
          </a:p>
        </p:txBody>
      </p:sp>
      <p:sp>
        <p:nvSpPr>
          <p:cNvPr id="221" name="Text 4"/>
          <p:cNvSpPr txBox="1"/>
          <p:nvPr/>
        </p:nvSpPr>
        <p:spPr>
          <a:xfrm>
            <a:off x="822960" y="2560320"/>
            <a:ext cx="21945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pessoas 0,25  ·  spaCy 0,04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0,40  ·  Gemini 0,50</a:t>
            </a:r>
          </a:p>
        </p:txBody>
      </p:sp>
      <p:sp>
        <p:nvSpPr>
          <p:cNvPr id="222" name="Shape 5"/>
          <p:cNvSpPr/>
          <p:nvPr/>
        </p:nvSpPr>
        <p:spPr>
          <a:xfrm>
            <a:off x="3383279" y="1554480"/>
            <a:ext cx="2377442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3" name="Text 6"/>
          <p:cNvSpPr txBox="1"/>
          <p:nvPr/>
        </p:nvSpPr>
        <p:spPr>
          <a:xfrm>
            <a:off x="3474720" y="1877566"/>
            <a:ext cx="2194562" cy="609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deployar / publicar</a:t>
            </a:r>
          </a:p>
        </p:txBody>
      </p:sp>
      <p:sp>
        <p:nvSpPr>
          <p:cNvPr id="224" name="Text 7"/>
          <p:cNvSpPr txBox="1"/>
          <p:nvPr/>
        </p:nvSpPr>
        <p:spPr>
          <a:xfrm>
            <a:off x="3474720" y="2560320"/>
            <a:ext cx="21945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pessoas 1  ·  spaCy 0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0,41  ·  Gemini 0,75</a:t>
            </a:r>
          </a:p>
        </p:txBody>
      </p:sp>
      <p:sp>
        <p:nvSpPr>
          <p:cNvPr id="225" name="Shape 8"/>
          <p:cNvSpPr/>
          <p:nvPr/>
        </p:nvSpPr>
        <p:spPr>
          <a:xfrm>
            <a:off x="6035040" y="1554480"/>
            <a:ext cx="2377442" cy="1828801"/>
          </a:xfrm>
          <a:prstGeom prst="roundRect">
            <a:avLst>
              <a:gd name="adj" fmla="val 7500"/>
            </a:avLst>
          </a:prstGeom>
          <a:solidFill>
            <a:srgbClr val="142B47"/>
          </a:solidFill>
          <a:ln w="12700">
            <a:solidFill>
              <a:srgbClr val="142B47"/>
            </a:solidFill>
          </a:ln>
        </p:spPr>
        <p:txBody>
          <a:bodyPr lIns="45718" tIns="45718" rIns="45718" bIns="45718"/>
          <a:lstStyle/>
          <a:p>
            <a:pPr>
              <a:defRPr>
                <a:latin typeface="+mj-lt"/>
                <a:ea typeface="+mj-ea"/>
                <a:cs typeface="+mj-cs"/>
                <a:sym typeface="Calibri"/>
              </a:defRPr>
            </a:pPr>
          </a:p>
        </p:txBody>
      </p:sp>
      <p:sp>
        <p:nvSpPr>
          <p:cNvPr id="226" name="Text 9"/>
          <p:cNvSpPr txBox="1"/>
          <p:nvPr/>
        </p:nvSpPr>
        <p:spPr>
          <a:xfrm>
            <a:off x="6126479" y="2182366"/>
            <a:ext cx="2194562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b">
            <a:spAutoFit/>
          </a:bodyPr>
          <a:lstStyle>
            <a:lvl1pPr algn="ctr">
              <a:defRPr sz="2000">
                <a:solidFill>
                  <a:srgbClr val="FFFFFF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vetor / matriz</a:t>
            </a:r>
          </a:p>
        </p:txBody>
      </p:sp>
      <p:sp>
        <p:nvSpPr>
          <p:cNvPr id="227" name="Text 10"/>
          <p:cNvSpPr txBox="1"/>
          <p:nvPr/>
        </p:nvSpPr>
        <p:spPr>
          <a:xfrm>
            <a:off x="6126479" y="2560320"/>
            <a:ext cx="2194562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pessoas 0  ·  spaCy 0,37</a:t>
            </a:r>
          </a:p>
          <a:p>
            <a:pPr algn="ctr">
              <a:defRPr sz="1300">
                <a:solidFill>
                  <a:srgbClr val="B9D3EE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BERT 0,78  ·  Gemini 0,75</a:t>
            </a:r>
          </a:p>
        </p:txBody>
      </p:sp>
      <p:sp>
        <p:nvSpPr>
          <p:cNvPr id="228" name="Text 11"/>
          <p:cNvSpPr txBox="1"/>
          <p:nvPr/>
        </p:nvSpPr>
        <p:spPr>
          <a:xfrm>
            <a:off x="457200" y="3909059"/>
            <a:ext cx="8229600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5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Só o Gemini usa o sentido das palavras em TI, mas todos acham vetor e matriz parecidos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 txBox="1"/>
          <p:nvPr/>
        </p:nvSpPr>
        <p:spPr>
          <a:xfrm>
            <a:off x="457199" y="1856513"/>
            <a:ext cx="8721123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7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O que funcionou</a:t>
            </a:r>
          </a:p>
        </p:txBody>
      </p:sp>
      <p:sp>
        <p:nvSpPr>
          <p:cNvPr id="231" name="Text 3"/>
          <p:cNvSpPr txBox="1"/>
          <p:nvPr/>
        </p:nvSpPr>
        <p:spPr>
          <a:xfrm>
            <a:off x="534213" y="2858629"/>
            <a:ext cx="7379804" cy="152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ts val="600"/>
              </a:spcBef>
              <a:defRPr sz="20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t>O TF-IDF classificou certo </a:t>
            </a: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91% das questões</a:t>
            </a:r>
            <a:r>
              <a:t>, porque os termos técnicos decidem a subárea. Na similaridade, </a:t>
            </a: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o Gemini foi o modelo mais perto das pessoas</a:t>
            </a:r>
            <a:r>
              <a:t> (0,68 no nosso dataset). E o </a:t>
            </a: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k‑NN visto em aula</a:t>
            </a:r>
            <a:r>
              <a:t> resolveu as questões ambíguas na hora de definir a subárea.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Text 0"/>
          <p:cNvSpPr txBox="1"/>
          <p:nvPr/>
        </p:nvSpPr>
        <p:spPr>
          <a:xfrm>
            <a:off x="211438" y="1805666"/>
            <a:ext cx="8721123" cy="106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70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Limitações</a:t>
            </a:r>
          </a:p>
        </p:txBody>
      </p:sp>
      <p:sp>
        <p:nvSpPr>
          <p:cNvPr id="234" name="Text 3"/>
          <p:cNvSpPr txBox="1"/>
          <p:nvPr/>
        </p:nvSpPr>
        <p:spPr>
          <a:xfrm>
            <a:off x="1525731" y="2867104"/>
            <a:ext cx="7379804" cy="1219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r">
              <a:spcBef>
                <a:spcPts val="600"/>
              </a:spcBef>
              <a:defRPr sz="2000">
                <a:solidFill>
                  <a:srgbClr val="142B47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pP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Só 2 anotadoras e 100 pares</a:t>
            </a:r>
            <a:r>
              <a:t>, quase todos pouco parecidos. O spaCy não conhece </a:t>
            </a: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termos como deployar e parsear</a:t>
            </a:r>
            <a:r>
              <a:t>, o BERT não foi feito para </a:t>
            </a: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palavras isoladas</a:t>
            </a:r>
            <a:r>
              <a:t>, e cerca de </a:t>
            </a:r>
            <a:r>
              <a:rPr>
                <a:solidFill>
                  <a:srgbClr val="D249B6"/>
                </a:solidFill>
                <a:latin typeface="SF Pro Bold"/>
                <a:ea typeface="SF Pro Bold"/>
                <a:cs typeface="SF Pro Bold"/>
                <a:sym typeface="SF Pro Bold"/>
              </a:rPr>
              <a:t>3% das questões</a:t>
            </a:r>
            <a:r>
              <a:t> ainda estão com a subárea errada.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B3D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Text 0"/>
          <p:cNvSpPr txBox="1"/>
          <p:nvPr/>
        </p:nvSpPr>
        <p:spPr>
          <a:xfrm>
            <a:off x="914400" y="1378003"/>
            <a:ext cx="7315200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i="1" sz="2000">
                <a:solidFill>
                  <a:srgbClr val="C24F80"/>
                </a:solidFill>
                <a:latin typeface="SF Pro Regular"/>
                <a:ea typeface="SF Pro Regular"/>
                <a:cs typeface="SF Pro Regular"/>
                <a:sym typeface="SF Pro Regular"/>
              </a:defRPr>
            </a:lvl1pPr>
          </a:lstStyle>
          <a:p>
            <a:pPr/>
            <a:r>
              <a:t>Conclusões</a:t>
            </a:r>
          </a:p>
        </p:txBody>
      </p:sp>
      <p:sp>
        <p:nvSpPr>
          <p:cNvPr id="237" name="Text 1"/>
          <p:cNvSpPr txBox="1"/>
          <p:nvPr/>
        </p:nvSpPr>
        <p:spPr>
          <a:xfrm>
            <a:off x="565322" y="1823930"/>
            <a:ext cx="8013356" cy="193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3200">
                <a:solidFill>
                  <a:srgbClr val="142B47"/>
                </a:solidFill>
                <a:latin typeface="SF Pro Bold"/>
                <a:ea typeface="SF Pro Bold"/>
                <a:cs typeface="SF Pro Bold"/>
                <a:sym typeface="SF Pro Bold"/>
              </a:defRPr>
            </a:lvl1pPr>
          </a:lstStyle>
          <a:p>
            <a:pPr/>
            <a:r>
              <a:t>Para classificar, o TF-IDF foi o melhor (F1 0,91), o assunto está nos termos técnicos. Para similaridade, só o LLM ficou perto das pessoas.</a:t>
            </a:r>
          </a:p>
        </p:txBody>
      </p:sp>
    </p:spTree>
  </p:cSld>
  <p:clrMapOvr>
    <a:masterClrMapping/>
  </p:clrMapOvr>
  <p:transition xmlns:p14="http://schemas.microsoft.com/office/powerpoint/2010/main" spd="med" advClick="1"/>
  <p:timing>
    <p:tnLst>
      <p:par>
        <p:cTn id="1" nodeType="tmRoot" restart="never" dur="indefinite" fill="hold">
          <p:childTnLst>
            <p:seq concurrent="1" prevAc="none" nextAc="seek">
              <p:cTn id="2" nodeType="mainSeq" dur="indefinite" fill="hold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Class="entr" nodeType="clickEffect" presetSubtype="0" presetID="1" grpId="1" fill="hold">
                                  <p:stCondLst>
                                    <p:cond delay="0"/>
                                  </p:stCondLst>
                                  <p:iterate type="lt" backwards="0">
                                    <p:tmAbs val="10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  <p:bldLst>
      <p:bldP build="whole" bldLvl="1" animBg="1" rev="0" advAuto="0" spid="236" grpId="1"/>
    </p:bldLst>
  </p:timing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