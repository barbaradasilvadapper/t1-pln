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398768" y="1704935"/>
            <a:ext cx="8229601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5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Corpora, Classificação e</a:t>
            </a:r>
          </a:p>
          <a:p>
            <a:pPr>
              <a:defRPr sz="5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Similaridade de Texto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424191" y="3197264"/>
            <a:ext cx="83210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D35F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Introdução ao Processamento de Linguagem Natural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457200" y="4424679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4A6C93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Ana Carolina Poletto, Bárbara Dapper, João Pedro Martins, Luiza Pasini e Rafaela Remião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 txBox="1"/>
          <p:nvPr/>
        </p:nvSpPr>
        <p:spPr>
          <a:xfrm>
            <a:off x="914400" y="1369103"/>
            <a:ext cx="73152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20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Introdução</a:t>
            </a:r>
          </a:p>
        </p:txBody>
      </p:sp>
      <p:sp>
        <p:nvSpPr>
          <p:cNvPr id="25" name="Text 1"/>
          <p:cNvSpPr txBox="1"/>
          <p:nvPr/>
        </p:nvSpPr>
        <p:spPr>
          <a:xfrm>
            <a:off x="565322" y="1773131"/>
            <a:ext cx="8013356" cy="203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4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Conseguimos saber de qual área é uma questão de concurso só pelo texto? O quanto os modelos de linguagem concordam com a gente?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1"/>
          <p:cNvSpPr txBox="1"/>
          <p:nvPr/>
        </p:nvSpPr>
        <p:spPr>
          <a:xfrm>
            <a:off x="480844" y="2120900"/>
            <a:ext cx="804672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Corpus de Questões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457200" y="686082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Coleta</a:t>
            </a:r>
          </a:p>
        </p:txBody>
      </p:sp>
      <p:sp>
        <p:nvSpPr>
          <p:cNvPr id="30" name="Text 1"/>
          <p:cNvSpPr txBox="1"/>
          <p:nvPr/>
        </p:nvSpPr>
        <p:spPr>
          <a:xfrm>
            <a:off x="457200" y="1291872"/>
            <a:ext cx="82296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95 provas de TI da banca FGV, no PCI Concursos, de 2021 a 2026</a:t>
            </a:r>
          </a:p>
        </p:txBody>
      </p:sp>
      <p:sp>
        <p:nvSpPr>
          <p:cNvPr id="31" name="Shape 2"/>
          <p:cNvSpPr/>
          <p:nvPr/>
        </p:nvSpPr>
        <p:spPr>
          <a:xfrm>
            <a:off x="914400" y="1996722"/>
            <a:ext cx="2194561" cy="1371601"/>
          </a:xfrm>
          <a:prstGeom prst="roundRect">
            <a:avLst>
              <a:gd name="adj" fmla="val 100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3"/>
          <p:cNvSpPr txBox="1"/>
          <p:nvPr/>
        </p:nvSpPr>
        <p:spPr>
          <a:xfrm>
            <a:off x="1005839" y="2114070"/>
            <a:ext cx="201168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727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1005839" y="2751102"/>
            <a:ext cx="20116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Engenharia de Software</a:t>
            </a:r>
          </a:p>
        </p:txBody>
      </p:sp>
      <p:sp>
        <p:nvSpPr>
          <p:cNvPr id="34" name="Shape 5"/>
          <p:cNvSpPr/>
          <p:nvPr/>
        </p:nvSpPr>
        <p:spPr>
          <a:xfrm>
            <a:off x="3474720" y="1996722"/>
            <a:ext cx="2194561" cy="1371601"/>
          </a:xfrm>
          <a:prstGeom prst="roundRect">
            <a:avLst>
              <a:gd name="adj" fmla="val 100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3566159" y="2114070"/>
            <a:ext cx="201168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669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3566159" y="2751102"/>
            <a:ext cx="20116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Redes e Infraestrutura</a:t>
            </a:r>
          </a:p>
        </p:txBody>
      </p:sp>
      <p:sp>
        <p:nvSpPr>
          <p:cNvPr id="37" name="Shape 8"/>
          <p:cNvSpPr/>
          <p:nvPr/>
        </p:nvSpPr>
        <p:spPr>
          <a:xfrm>
            <a:off x="6035040" y="1996722"/>
            <a:ext cx="2194561" cy="1371601"/>
          </a:xfrm>
          <a:prstGeom prst="roundRect">
            <a:avLst>
              <a:gd name="adj" fmla="val 100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9"/>
          <p:cNvSpPr txBox="1"/>
          <p:nvPr/>
        </p:nvSpPr>
        <p:spPr>
          <a:xfrm>
            <a:off x="6126479" y="2114070"/>
            <a:ext cx="201168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502</a:t>
            </a:r>
          </a:p>
        </p:txBody>
      </p:sp>
      <p:sp>
        <p:nvSpPr>
          <p:cNvPr id="39" name="Text 10"/>
          <p:cNvSpPr txBox="1"/>
          <p:nvPr/>
        </p:nvSpPr>
        <p:spPr>
          <a:xfrm>
            <a:off x="6126479" y="2751102"/>
            <a:ext cx="201168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Segurança da Informação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457200" y="3665502"/>
            <a:ext cx="82296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As 3 subáreas exigidas passam de 500  ·  BD (469) e Governança (139) são extras  ·  total: 2.506 questões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 txBox="1"/>
          <p:nvPr/>
        </p:nvSpPr>
        <p:spPr>
          <a:xfrm>
            <a:off x="457200" y="940317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Do PDF ao JSON</a:t>
            </a:r>
          </a:p>
        </p:txBody>
      </p:sp>
      <p:sp>
        <p:nvSpPr>
          <p:cNvPr id="43" name="Text 1"/>
          <p:cNvSpPr txBox="1"/>
          <p:nvPr/>
        </p:nvSpPr>
        <p:spPr>
          <a:xfrm>
            <a:off x="457200" y="1546107"/>
            <a:ext cx="8229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etapas aplicadas em cada prova</a:t>
            </a:r>
          </a:p>
        </p:txBody>
      </p:sp>
      <p:sp>
        <p:nvSpPr>
          <p:cNvPr id="44" name="Shape 2"/>
          <p:cNvSpPr/>
          <p:nvPr/>
        </p:nvSpPr>
        <p:spPr>
          <a:xfrm>
            <a:off x="457200" y="2285462"/>
            <a:ext cx="777241" cy="777241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3"/>
          <p:cNvSpPr txBox="1"/>
          <p:nvPr/>
        </p:nvSpPr>
        <p:spPr>
          <a:xfrm>
            <a:off x="457200" y="2597882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PDF</a:t>
            </a:r>
          </a:p>
        </p:txBody>
      </p:sp>
      <p:sp>
        <p:nvSpPr>
          <p:cNvPr id="46" name="Text 4"/>
          <p:cNvSpPr txBox="1"/>
          <p:nvPr/>
        </p:nvSpPr>
        <p:spPr>
          <a:xfrm>
            <a:off x="137160" y="3161277"/>
            <a:ext cx="14173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prova + gabarito</a:t>
            </a:r>
          </a:p>
        </p:txBody>
      </p:sp>
      <p:sp>
        <p:nvSpPr>
          <p:cNvPr id="47" name="Shape 5"/>
          <p:cNvSpPr/>
          <p:nvPr/>
        </p:nvSpPr>
        <p:spPr>
          <a:xfrm>
            <a:off x="1307592" y="2699505"/>
            <a:ext cx="566929" cy="1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6"/>
          <p:cNvSpPr/>
          <p:nvPr/>
        </p:nvSpPr>
        <p:spPr>
          <a:xfrm>
            <a:off x="1947672" y="2310885"/>
            <a:ext cx="777241" cy="777241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7"/>
          <p:cNvSpPr txBox="1"/>
          <p:nvPr/>
        </p:nvSpPr>
        <p:spPr>
          <a:xfrm>
            <a:off x="1947672" y="2623305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TXT</a:t>
            </a:r>
          </a:p>
        </p:txBody>
      </p:sp>
      <p:sp>
        <p:nvSpPr>
          <p:cNvPr id="50" name="Text 8"/>
          <p:cNvSpPr txBox="1"/>
          <p:nvPr/>
        </p:nvSpPr>
        <p:spPr>
          <a:xfrm>
            <a:off x="1627632" y="3161277"/>
            <a:ext cx="14173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pdftotext, colunas reordenadas</a:t>
            </a:r>
          </a:p>
        </p:txBody>
      </p:sp>
      <p:sp>
        <p:nvSpPr>
          <p:cNvPr id="51" name="Shape 9"/>
          <p:cNvSpPr/>
          <p:nvPr/>
        </p:nvSpPr>
        <p:spPr>
          <a:xfrm>
            <a:off x="2798064" y="2699505"/>
            <a:ext cx="566929" cy="1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Shape 10"/>
          <p:cNvSpPr/>
          <p:nvPr/>
        </p:nvSpPr>
        <p:spPr>
          <a:xfrm>
            <a:off x="3438144" y="2310885"/>
            <a:ext cx="777241" cy="777241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11"/>
          <p:cNvSpPr txBox="1"/>
          <p:nvPr/>
        </p:nvSpPr>
        <p:spPr>
          <a:xfrm>
            <a:off x="3438144" y="2623305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Limpeza</a:t>
            </a:r>
          </a:p>
        </p:txBody>
      </p:sp>
      <p:sp>
        <p:nvSpPr>
          <p:cNvPr id="54" name="Text 12"/>
          <p:cNvSpPr txBox="1"/>
          <p:nvPr/>
        </p:nvSpPr>
        <p:spPr>
          <a:xfrm>
            <a:off x="3118104" y="3161277"/>
            <a:ext cx="14173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remove cabeçalho e rodapé</a:t>
            </a:r>
          </a:p>
        </p:txBody>
      </p:sp>
      <p:sp>
        <p:nvSpPr>
          <p:cNvPr id="55" name="Shape 13"/>
          <p:cNvSpPr/>
          <p:nvPr/>
        </p:nvSpPr>
        <p:spPr>
          <a:xfrm>
            <a:off x="4288535" y="2699505"/>
            <a:ext cx="566929" cy="1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14"/>
          <p:cNvSpPr/>
          <p:nvPr/>
        </p:nvSpPr>
        <p:spPr>
          <a:xfrm>
            <a:off x="4928615" y="2310885"/>
            <a:ext cx="777241" cy="777241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5"/>
          <p:cNvSpPr txBox="1"/>
          <p:nvPr/>
        </p:nvSpPr>
        <p:spPr>
          <a:xfrm>
            <a:off x="4928615" y="2623305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Separar</a:t>
            </a:r>
          </a:p>
        </p:txBody>
      </p:sp>
      <p:sp>
        <p:nvSpPr>
          <p:cNvPr id="58" name="Text 16"/>
          <p:cNvSpPr txBox="1"/>
          <p:nvPr/>
        </p:nvSpPr>
        <p:spPr>
          <a:xfrm>
            <a:off x="4608576" y="3161277"/>
            <a:ext cx="14173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enunciado e alternativas</a:t>
            </a:r>
          </a:p>
        </p:txBody>
      </p:sp>
      <p:sp>
        <p:nvSpPr>
          <p:cNvPr id="59" name="Shape 17"/>
          <p:cNvSpPr/>
          <p:nvPr/>
        </p:nvSpPr>
        <p:spPr>
          <a:xfrm>
            <a:off x="5779008" y="2699505"/>
            <a:ext cx="566929" cy="1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Shape 18"/>
          <p:cNvSpPr/>
          <p:nvPr/>
        </p:nvSpPr>
        <p:spPr>
          <a:xfrm>
            <a:off x="6419088" y="2310885"/>
            <a:ext cx="777241" cy="777241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9"/>
          <p:cNvSpPr txBox="1"/>
          <p:nvPr/>
        </p:nvSpPr>
        <p:spPr>
          <a:xfrm>
            <a:off x="6419088" y="2623305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Gabarito</a:t>
            </a:r>
          </a:p>
        </p:txBody>
      </p:sp>
      <p:sp>
        <p:nvSpPr>
          <p:cNvPr id="62" name="Text 20"/>
          <p:cNvSpPr txBox="1"/>
          <p:nvPr/>
        </p:nvSpPr>
        <p:spPr>
          <a:xfrm>
            <a:off x="6099047" y="3161277"/>
            <a:ext cx="14173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bloco certo do gabarito (Tipo 1)</a:t>
            </a:r>
          </a:p>
        </p:txBody>
      </p:sp>
      <p:sp>
        <p:nvSpPr>
          <p:cNvPr id="63" name="Shape 21"/>
          <p:cNvSpPr/>
          <p:nvPr/>
        </p:nvSpPr>
        <p:spPr>
          <a:xfrm>
            <a:off x="7269480" y="2699505"/>
            <a:ext cx="566929" cy="1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22"/>
          <p:cNvSpPr/>
          <p:nvPr/>
        </p:nvSpPr>
        <p:spPr>
          <a:xfrm>
            <a:off x="7909559" y="2310885"/>
            <a:ext cx="777241" cy="777241"/>
          </a:xfrm>
          <a:prstGeom prst="ellipse">
            <a:avLst/>
          </a:prstGeom>
          <a:solidFill>
            <a:srgbClr val="C24F8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23"/>
          <p:cNvSpPr txBox="1"/>
          <p:nvPr/>
        </p:nvSpPr>
        <p:spPr>
          <a:xfrm>
            <a:off x="7909559" y="2623305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JSON</a:t>
            </a:r>
          </a:p>
        </p:txBody>
      </p:sp>
      <p:sp>
        <p:nvSpPr>
          <p:cNvPr id="66" name="Text 24"/>
          <p:cNvSpPr txBox="1"/>
          <p:nvPr/>
        </p:nvSpPr>
        <p:spPr>
          <a:xfrm>
            <a:off x="7589519" y="3161277"/>
            <a:ext cx="14173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por ano e por subárea</a:t>
            </a:r>
          </a:p>
        </p:txBody>
      </p:sp>
      <p:sp>
        <p:nvSpPr>
          <p:cNvPr id="67" name="Text 25"/>
          <p:cNvSpPr txBox="1"/>
          <p:nvPr/>
        </p:nvSpPr>
        <p:spPr>
          <a:xfrm>
            <a:off x="457200" y="4199890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6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6.777 questões extraídas  →  2.506 no corpus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 txBox="1"/>
          <p:nvPr/>
        </p:nvSpPr>
        <p:spPr>
          <a:xfrm>
            <a:off x="457200" y="38100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O que foi descartado</a:t>
            </a:r>
          </a:p>
        </p:txBody>
      </p:sp>
      <p:sp>
        <p:nvSpPr>
          <p:cNvPr id="70" name="Shape 1"/>
          <p:cNvSpPr/>
          <p:nvPr/>
        </p:nvSpPr>
        <p:spPr>
          <a:xfrm>
            <a:off x="731519" y="1234439"/>
            <a:ext cx="3657601" cy="3017522"/>
          </a:xfrm>
          <a:prstGeom prst="roundRect">
            <a:avLst>
              <a:gd name="adj" fmla="val 4545"/>
            </a:avLst>
          </a:prstGeom>
          <a:solidFill>
            <a:srgbClr val="5798D7"/>
          </a:solidFill>
          <a:ln w="12700">
            <a:solidFill>
              <a:srgbClr val="5798D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2"/>
          <p:cNvSpPr txBox="1"/>
          <p:nvPr/>
        </p:nvSpPr>
        <p:spPr>
          <a:xfrm>
            <a:off x="914399" y="1421130"/>
            <a:ext cx="32918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Critérios de exclusão</a:t>
            </a:r>
          </a:p>
        </p:txBody>
      </p:sp>
      <p:sp>
        <p:nvSpPr>
          <p:cNvPr id="72" name="Text 3"/>
          <p:cNvSpPr txBox="1"/>
          <p:nvPr/>
        </p:nvSpPr>
        <p:spPr>
          <a:xfrm>
            <a:off x="914399" y="1828800"/>
            <a:ext cx="3291842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142B47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Não é de computação (português, direito...)</a:t>
            </a:r>
          </a:p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142B47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Problema de conversão (símbolo, tabela, figura)</a:t>
            </a:r>
          </a:p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142B47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Alternativa faltando ou questões grudadas</a:t>
            </a:r>
          </a:p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142B47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Sem gabarito ou anulada</a:t>
            </a:r>
          </a:p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142B47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Repetida em outra prova</a:t>
            </a:r>
          </a:p>
        </p:txBody>
      </p:sp>
      <p:sp>
        <p:nvSpPr>
          <p:cNvPr id="73" name="Text 4"/>
          <p:cNvSpPr txBox="1"/>
          <p:nvPr/>
        </p:nvSpPr>
        <p:spPr>
          <a:xfrm>
            <a:off x="5022505" y="1975484"/>
            <a:ext cx="347472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4.271</a:t>
            </a:r>
          </a:p>
        </p:txBody>
      </p:sp>
      <p:sp>
        <p:nvSpPr>
          <p:cNvPr id="74" name="Text 5"/>
          <p:cNvSpPr txBox="1"/>
          <p:nvPr/>
        </p:nvSpPr>
        <p:spPr>
          <a:xfrm>
            <a:off x="5022505" y="2910204"/>
            <a:ext cx="347472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questões removidas</a:t>
            </a:r>
          </a:p>
        </p:txBody>
      </p:sp>
      <p:sp>
        <p:nvSpPr>
          <p:cNvPr id="75" name="Text 6"/>
          <p:cNvSpPr txBox="1"/>
          <p:nvPr/>
        </p:nvSpPr>
        <p:spPr>
          <a:xfrm>
            <a:off x="5022505" y="3275965"/>
            <a:ext cx="347472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63% do total extraído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 txBox="1"/>
          <p:nvPr/>
        </p:nvSpPr>
        <p:spPr>
          <a:xfrm>
            <a:off x="457200" y="38100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Como definimos a subárea</a:t>
            </a:r>
          </a:p>
        </p:txBody>
      </p:sp>
      <p:sp>
        <p:nvSpPr>
          <p:cNvPr id="78" name="Text 1"/>
          <p:cNvSpPr txBox="1"/>
          <p:nvPr/>
        </p:nvSpPr>
        <p:spPr>
          <a:xfrm>
            <a:off x="457200" y="999489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classificação automática, em duas etapas</a:t>
            </a:r>
          </a:p>
        </p:txBody>
      </p:sp>
      <p:sp>
        <p:nvSpPr>
          <p:cNvPr id="79" name="Shape 2"/>
          <p:cNvSpPr/>
          <p:nvPr/>
        </p:nvSpPr>
        <p:spPr>
          <a:xfrm>
            <a:off x="731519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3"/>
          <p:cNvSpPr txBox="1"/>
          <p:nvPr/>
        </p:nvSpPr>
        <p:spPr>
          <a:xfrm>
            <a:off x="822960" y="2182367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Palavras-chave</a:t>
            </a:r>
          </a:p>
        </p:txBody>
      </p:sp>
      <p:sp>
        <p:nvSpPr>
          <p:cNvPr id="81" name="Text 4"/>
          <p:cNvSpPr txBox="1"/>
          <p:nvPr/>
        </p:nvSpPr>
        <p:spPr>
          <a:xfrm>
            <a:off x="822960" y="2560320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lista de termos por subárea; o enunciado vale o dobro</a:t>
            </a:r>
          </a:p>
        </p:txBody>
      </p:sp>
      <p:sp>
        <p:nvSpPr>
          <p:cNvPr id="82" name="Shape 5"/>
          <p:cNvSpPr/>
          <p:nvPr/>
        </p:nvSpPr>
        <p:spPr>
          <a:xfrm>
            <a:off x="3383279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6"/>
          <p:cNvSpPr txBox="1"/>
          <p:nvPr/>
        </p:nvSpPr>
        <p:spPr>
          <a:xfrm>
            <a:off x="3474720" y="2182367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Ambíguas</a:t>
            </a:r>
          </a:p>
        </p:txBody>
      </p:sp>
      <p:sp>
        <p:nvSpPr>
          <p:cNvPr id="84" name="Text 7"/>
          <p:cNvSpPr txBox="1"/>
          <p:nvPr/>
        </p:nvSpPr>
        <p:spPr>
          <a:xfrm>
            <a:off x="3474720" y="2560320"/>
            <a:ext cx="219456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11% das questões têm menos de 4 pontos entre a 1ª e a 2ª subárea</a:t>
            </a:r>
          </a:p>
        </p:txBody>
      </p:sp>
      <p:sp>
        <p:nvSpPr>
          <p:cNvPr id="85" name="Shape 8"/>
          <p:cNvSpPr/>
          <p:nvPr/>
        </p:nvSpPr>
        <p:spPr>
          <a:xfrm>
            <a:off x="6035040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9"/>
          <p:cNvSpPr txBox="1"/>
          <p:nvPr/>
        </p:nvSpPr>
        <p:spPr>
          <a:xfrm>
            <a:off x="6126479" y="2182367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k-NN (k=3)</a:t>
            </a:r>
          </a:p>
        </p:txBody>
      </p:sp>
      <p:sp>
        <p:nvSpPr>
          <p:cNvPr id="87" name="Text 10"/>
          <p:cNvSpPr txBox="1"/>
          <p:nvPr/>
        </p:nvSpPr>
        <p:spPr>
          <a:xfrm>
            <a:off x="6126479" y="2560320"/>
            <a:ext cx="219456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treinado nas questões confiáveis, decide as ambíguas</a:t>
            </a:r>
          </a:p>
        </p:txBody>
      </p:sp>
      <p:sp>
        <p:nvSpPr>
          <p:cNvPr id="88" name="Text 11"/>
          <p:cNvSpPr txBox="1"/>
          <p:nvPr/>
        </p:nvSpPr>
        <p:spPr>
          <a:xfrm>
            <a:off x="457200" y="3909059"/>
            <a:ext cx="82296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Conferimos 100 questões sorteadas: 97 estavam na subárea certa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 txBox="1"/>
          <p:nvPr/>
        </p:nvSpPr>
        <p:spPr>
          <a:xfrm>
            <a:off x="457200" y="592862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Estrutura do JSON</a:t>
            </a:r>
          </a:p>
        </p:txBody>
      </p:sp>
      <p:sp>
        <p:nvSpPr>
          <p:cNvPr id="91" name="Shape 2"/>
          <p:cNvSpPr/>
          <p:nvPr/>
        </p:nvSpPr>
        <p:spPr>
          <a:xfrm>
            <a:off x="2011679" y="1417319"/>
            <a:ext cx="5120642" cy="3017522"/>
          </a:xfrm>
          <a:prstGeom prst="roundRect">
            <a:avLst>
              <a:gd name="adj" fmla="val 2424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3"/>
          <p:cNvSpPr txBox="1"/>
          <p:nvPr/>
        </p:nvSpPr>
        <p:spPr>
          <a:xfrm>
            <a:off x="2194560" y="1527047"/>
            <a:ext cx="4754880" cy="231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{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"id": "28-061",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"subarea": "seguranca_da_informacao",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"ano": 2023,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"banca": "FGV",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"cargo_orgao": "analista judiciario ... tj se",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"enunciado": "O computador de Elias foi ...",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"alternativas": [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{"letra": "A", "texto": "memória;"}, ...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],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"gabarito": "A",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"resposta_correta": "memória;"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 txBox="1"/>
          <p:nvPr/>
        </p:nvSpPr>
        <p:spPr>
          <a:xfrm>
            <a:off x="457200" y="66040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Estatísticas do corpus</a:t>
            </a:r>
          </a:p>
        </p:txBody>
      </p:sp>
      <p:graphicFrame>
        <p:nvGraphicFramePr>
          <p:cNvPr id="95" name="Table 0"/>
          <p:cNvGraphicFramePr/>
          <p:nvPr/>
        </p:nvGraphicFramePr>
        <p:xfrm>
          <a:off x="914400" y="1422400"/>
          <a:ext cx="7315200" cy="20574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1188720"/>
                <a:gridCol w="1188720"/>
                <a:gridCol w="13716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Subárea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Questões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Provas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Anos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Tokens / enunciado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Eng. de Software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727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74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66,8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Redes e Infra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669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80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65,8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Segurança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502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81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69,3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Banco de Dados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469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77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66,2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Governança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139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50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64,3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Total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2.506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91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66,8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 txBox="1"/>
          <p:nvPr/>
        </p:nvSpPr>
        <p:spPr>
          <a:xfrm>
            <a:off x="457200" y="38100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Dataset card</a:t>
            </a:r>
          </a:p>
        </p:txBody>
      </p:sp>
      <p:sp>
        <p:nvSpPr>
          <p:cNvPr id="98" name="Shape 1"/>
          <p:cNvSpPr/>
          <p:nvPr/>
        </p:nvSpPr>
        <p:spPr>
          <a:xfrm>
            <a:off x="731519" y="1325880"/>
            <a:ext cx="2377441" cy="1234440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2"/>
          <p:cNvSpPr txBox="1"/>
          <p:nvPr/>
        </p:nvSpPr>
        <p:spPr>
          <a:xfrm>
            <a:off x="822960" y="1686305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100" name="Text 3"/>
          <p:cNvSpPr txBox="1"/>
          <p:nvPr/>
        </p:nvSpPr>
        <p:spPr>
          <a:xfrm>
            <a:off x="822960" y="2004822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PCI Concursos, banca FGV, 2021–2026</a:t>
            </a:r>
          </a:p>
        </p:txBody>
      </p:sp>
      <p:sp>
        <p:nvSpPr>
          <p:cNvPr id="101" name="Shape 4"/>
          <p:cNvSpPr/>
          <p:nvPr/>
        </p:nvSpPr>
        <p:spPr>
          <a:xfrm>
            <a:off x="3383279" y="1325880"/>
            <a:ext cx="2377441" cy="1234440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5"/>
          <p:cNvSpPr txBox="1"/>
          <p:nvPr/>
        </p:nvSpPr>
        <p:spPr>
          <a:xfrm>
            <a:off x="3474720" y="1686305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Tamanho</a:t>
            </a:r>
          </a:p>
        </p:txBody>
      </p:sp>
      <p:sp>
        <p:nvSpPr>
          <p:cNvPr id="103" name="Text 6"/>
          <p:cNvSpPr txBox="1"/>
          <p:nvPr/>
        </p:nvSpPr>
        <p:spPr>
          <a:xfrm>
            <a:off x="3474720" y="2004822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2.506 questões, 5 subáreas, 91 provas</a:t>
            </a:r>
          </a:p>
        </p:txBody>
      </p:sp>
      <p:sp>
        <p:nvSpPr>
          <p:cNvPr id="104" name="Shape 7"/>
          <p:cNvSpPr/>
          <p:nvPr/>
        </p:nvSpPr>
        <p:spPr>
          <a:xfrm>
            <a:off x="6035040" y="1325880"/>
            <a:ext cx="2377441" cy="1234440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8"/>
          <p:cNvSpPr txBox="1"/>
          <p:nvPr/>
        </p:nvSpPr>
        <p:spPr>
          <a:xfrm>
            <a:off x="6126479" y="1686305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Formato</a:t>
            </a:r>
          </a:p>
        </p:txBody>
      </p:sp>
      <p:sp>
        <p:nvSpPr>
          <p:cNvPr id="106" name="Text 9"/>
          <p:cNvSpPr txBox="1"/>
          <p:nvPr/>
        </p:nvSpPr>
        <p:spPr>
          <a:xfrm>
            <a:off x="6126479" y="2004822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JSON, CSV e um TXT por questão</a:t>
            </a:r>
          </a:p>
        </p:txBody>
      </p:sp>
      <p:sp>
        <p:nvSpPr>
          <p:cNvPr id="107" name="Shape 10"/>
          <p:cNvSpPr/>
          <p:nvPr/>
        </p:nvSpPr>
        <p:spPr>
          <a:xfrm>
            <a:off x="731519" y="2788920"/>
            <a:ext cx="2377441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1"/>
          <p:cNvSpPr txBox="1"/>
          <p:nvPr/>
        </p:nvSpPr>
        <p:spPr>
          <a:xfrm>
            <a:off x="822960" y="3149346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Uso</a:t>
            </a:r>
          </a:p>
        </p:txBody>
      </p:sp>
      <p:sp>
        <p:nvSpPr>
          <p:cNvPr id="109" name="Text 12"/>
          <p:cNvSpPr txBox="1"/>
          <p:nvPr/>
        </p:nvSpPr>
        <p:spPr>
          <a:xfrm>
            <a:off x="822960" y="3467861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classificar por subárea e responder questões</a:t>
            </a:r>
          </a:p>
        </p:txBody>
      </p:sp>
      <p:sp>
        <p:nvSpPr>
          <p:cNvPr id="110" name="Shape 13"/>
          <p:cNvSpPr/>
          <p:nvPr/>
        </p:nvSpPr>
        <p:spPr>
          <a:xfrm>
            <a:off x="3383279" y="2788920"/>
            <a:ext cx="2377441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14"/>
          <p:cNvSpPr txBox="1"/>
          <p:nvPr/>
        </p:nvSpPr>
        <p:spPr>
          <a:xfrm>
            <a:off x="3474720" y="3149346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Limitações</a:t>
            </a:r>
          </a:p>
        </p:txBody>
      </p:sp>
      <p:sp>
        <p:nvSpPr>
          <p:cNvPr id="112" name="Text 15"/>
          <p:cNvSpPr txBox="1"/>
          <p:nvPr/>
        </p:nvSpPr>
        <p:spPr>
          <a:xfrm>
            <a:off x="3474720" y="3467861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Governança só com 139; ~3% com subárea errada</a:t>
            </a:r>
          </a:p>
        </p:txBody>
      </p:sp>
      <p:sp>
        <p:nvSpPr>
          <p:cNvPr id="113" name="Shape 16"/>
          <p:cNvSpPr/>
          <p:nvPr/>
        </p:nvSpPr>
        <p:spPr>
          <a:xfrm>
            <a:off x="6035040" y="2788920"/>
            <a:ext cx="2377441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17"/>
          <p:cNvSpPr txBox="1"/>
          <p:nvPr/>
        </p:nvSpPr>
        <p:spPr>
          <a:xfrm>
            <a:off x="6126479" y="3149346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Qualidade</a:t>
            </a:r>
          </a:p>
        </p:txBody>
      </p:sp>
      <p:sp>
        <p:nvSpPr>
          <p:cNvPr id="115" name="Text 18"/>
          <p:cNvSpPr txBox="1"/>
          <p:nvPr/>
        </p:nvSpPr>
        <p:spPr>
          <a:xfrm>
            <a:off x="6126479" y="3467861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94,7% das palavras estão no dicionário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1"/>
          <p:cNvSpPr txBox="1"/>
          <p:nvPr/>
        </p:nvSpPr>
        <p:spPr>
          <a:xfrm>
            <a:off x="353726" y="2120900"/>
            <a:ext cx="843654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Corpus de Similaridade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 txBox="1"/>
          <p:nvPr/>
        </p:nvSpPr>
        <p:spPr>
          <a:xfrm>
            <a:off x="289613" y="872521"/>
            <a:ext cx="8564774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Das questões aos pares de palavras</a:t>
            </a:r>
          </a:p>
        </p:txBody>
      </p:sp>
      <p:sp>
        <p:nvSpPr>
          <p:cNvPr id="120" name="Text 25"/>
          <p:cNvSpPr txBox="1"/>
          <p:nvPr/>
        </p:nvSpPr>
        <p:spPr>
          <a:xfrm>
            <a:off x="457200" y="4199890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6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200 palavras distintas  →  100 pares anotados de 1 a 5</a:t>
            </a:r>
          </a:p>
        </p:txBody>
      </p:sp>
      <p:sp>
        <p:nvSpPr>
          <p:cNvPr id="121" name="Shape 1"/>
          <p:cNvSpPr/>
          <p:nvPr/>
        </p:nvSpPr>
        <p:spPr>
          <a:xfrm>
            <a:off x="457200" y="2282459"/>
            <a:ext cx="777241" cy="777241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2"/>
          <p:cNvSpPr txBox="1"/>
          <p:nvPr/>
        </p:nvSpPr>
        <p:spPr>
          <a:xfrm>
            <a:off x="457200" y="2594879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Tokenizar</a:t>
            </a:r>
          </a:p>
        </p:txBody>
      </p:sp>
      <p:sp>
        <p:nvSpPr>
          <p:cNvPr id="123" name="Text 3"/>
          <p:cNvSpPr txBox="1"/>
          <p:nvPr/>
        </p:nvSpPr>
        <p:spPr>
          <a:xfrm>
            <a:off x="137160" y="3132851"/>
            <a:ext cx="141732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spaCy pt_core_news_sm</a:t>
            </a:r>
          </a:p>
        </p:txBody>
      </p:sp>
      <p:sp>
        <p:nvSpPr>
          <p:cNvPr id="124" name="Shape 4"/>
          <p:cNvSpPr/>
          <p:nvPr/>
        </p:nvSpPr>
        <p:spPr>
          <a:xfrm>
            <a:off x="1307591" y="2671079"/>
            <a:ext cx="939548" cy="1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5"/>
          <p:cNvSpPr/>
          <p:nvPr/>
        </p:nvSpPr>
        <p:spPr>
          <a:xfrm>
            <a:off x="2320289" y="2282459"/>
            <a:ext cx="777241" cy="777241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6"/>
          <p:cNvSpPr txBox="1"/>
          <p:nvPr/>
        </p:nvSpPr>
        <p:spPr>
          <a:xfrm>
            <a:off x="2320289" y="2594879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Lematizar</a:t>
            </a:r>
          </a:p>
        </p:txBody>
      </p:sp>
      <p:sp>
        <p:nvSpPr>
          <p:cNvPr id="127" name="Text 7"/>
          <p:cNvSpPr txBox="1"/>
          <p:nvPr/>
        </p:nvSpPr>
        <p:spPr>
          <a:xfrm>
            <a:off x="2000250" y="3132851"/>
            <a:ext cx="141732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forma base da palavra</a:t>
            </a:r>
          </a:p>
        </p:txBody>
      </p:sp>
      <p:sp>
        <p:nvSpPr>
          <p:cNvPr id="128" name="Shape 8"/>
          <p:cNvSpPr/>
          <p:nvPr/>
        </p:nvSpPr>
        <p:spPr>
          <a:xfrm>
            <a:off x="3170682" y="2671079"/>
            <a:ext cx="939547" cy="1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9"/>
          <p:cNvSpPr/>
          <p:nvPr/>
        </p:nvSpPr>
        <p:spPr>
          <a:xfrm>
            <a:off x="4183379" y="2282459"/>
            <a:ext cx="777241" cy="777241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0"/>
          <p:cNvSpPr txBox="1"/>
          <p:nvPr/>
        </p:nvSpPr>
        <p:spPr>
          <a:xfrm>
            <a:off x="4183379" y="2594879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Stopwords</a:t>
            </a:r>
          </a:p>
        </p:txBody>
      </p:sp>
      <p:sp>
        <p:nvSpPr>
          <p:cNvPr id="131" name="Text 11"/>
          <p:cNvSpPr txBox="1"/>
          <p:nvPr/>
        </p:nvSpPr>
        <p:spPr>
          <a:xfrm>
            <a:off x="3863340" y="3132851"/>
            <a:ext cx="14173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+ termos de prova, como "assinale"</a:t>
            </a:r>
          </a:p>
        </p:txBody>
      </p:sp>
      <p:sp>
        <p:nvSpPr>
          <p:cNvPr id="132" name="Shape 12"/>
          <p:cNvSpPr/>
          <p:nvPr/>
        </p:nvSpPr>
        <p:spPr>
          <a:xfrm>
            <a:off x="5033771" y="2671079"/>
            <a:ext cx="939547" cy="1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3"/>
          <p:cNvSpPr/>
          <p:nvPr/>
        </p:nvSpPr>
        <p:spPr>
          <a:xfrm>
            <a:off x="6046470" y="2282459"/>
            <a:ext cx="777241" cy="777241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4"/>
          <p:cNvSpPr txBox="1"/>
          <p:nvPr/>
        </p:nvSpPr>
        <p:spPr>
          <a:xfrm>
            <a:off x="6046470" y="2594879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Top 200</a:t>
            </a:r>
          </a:p>
        </p:txBody>
      </p:sp>
      <p:sp>
        <p:nvSpPr>
          <p:cNvPr id="135" name="Text 15"/>
          <p:cNvSpPr txBox="1"/>
          <p:nvPr/>
        </p:nvSpPr>
        <p:spPr>
          <a:xfrm>
            <a:off x="5726429" y="3132851"/>
            <a:ext cx="14173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maior TF-IDF médio</a:t>
            </a:r>
          </a:p>
        </p:txBody>
      </p:sp>
      <p:sp>
        <p:nvSpPr>
          <p:cNvPr id="136" name="Shape 16"/>
          <p:cNvSpPr/>
          <p:nvPr/>
        </p:nvSpPr>
        <p:spPr>
          <a:xfrm>
            <a:off x="6896861" y="2671079"/>
            <a:ext cx="939548" cy="1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17"/>
          <p:cNvSpPr/>
          <p:nvPr/>
        </p:nvSpPr>
        <p:spPr>
          <a:xfrm>
            <a:off x="7909559" y="2282459"/>
            <a:ext cx="777241" cy="777241"/>
          </a:xfrm>
          <a:prstGeom prst="ellipse">
            <a:avLst/>
          </a:prstGeom>
          <a:solidFill>
            <a:srgbClr val="C24F80"/>
          </a:solidFill>
          <a:ln w="12700">
            <a:solidFill>
              <a:srgbClr val="C24F8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8"/>
          <p:cNvSpPr txBox="1"/>
          <p:nvPr/>
        </p:nvSpPr>
        <p:spPr>
          <a:xfrm>
            <a:off x="7909559" y="2594879"/>
            <a:ext cx="7772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100 pares</a:t>
            </a:r>
          </a:p>
        </p:txBody>
      </p:sp>
      <p:sp>
        <p:nvSpPr>
          <p:cNvPr id="139" name="Text 19"/>
          <p:cNvSpPr txBox="1"/>
          <p:nvPr/>
        </p:nvSpPr>
        <p:spPr>
          <a:xfrm>
            <a:off x="7589519" y="3132851"/>
            <a:ext cx="14173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sorteio com semente 42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 txBox="1"/>
          <p:nvPr/>
        </p:nvSpPr>
        <p:spPr>
          <a:xfrm>
            <a:off x="457200" y="66040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Escala de similaridade</a:t>
            </a:r>
          </a:p>
        </p:txBody>
      </p:sp>
      <p:graphicFrame>
        <p:nvGraphicFramePr>
          <p:cNvPr id="142" name="Table 0"/>
          <p:cNvGraphicFramePr/>
          <p:nvPr/>
        </p:nvGraphicFramePr>
        <p:xfrm>
          <a:off x="914400" y="1422400"/>
          <a:ext cx="7315200" cy="20574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43000"/>
                <a:gridCol w="1905000"/>
                <a:gridCol w="4267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Nota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Na escala da aula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Significado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nenhuma semelhança de significado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0,25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baixa: ligação só de tema ou função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0,5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moderada: propriedades em comum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0,75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alta: significados próximos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5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muito alta: sinônimos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 txBox="1"/>
          <p:nvPr/>
        </p:nvSpPr>
        <p:spPr>
          <a:xfrm>
            <a:off x="457200" y="660658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Concordância entre anotadores</a:t>
            </a:r>
          </a:p>
        </p:txBody>
      </p:sp>
      <p:sp>
        <p:nvSpPr>
          <p:cNvPr id="145" name="Text 1"/>
          <p:cNvSpPr txBox="1"/>
          <p:nvPr/>
        </p:nvSpPr>
        <p:spPr>
          <a:xfrm>
            <a:off x="457200" y="1279148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3A6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 alunas (Luiza e Rafaela) anotaram os 100 pares sem ver as notas uma da outra</a:t>
            </a:r>
          </a:p>
        </p:txBody>
      </p:sp>
      <p:sp>
        <p:nvSpPr>
          <p:cNvPr id="146" name="Text 2"/>
          <p:cNvSpPr txBox="1"/>
          <p:nvPr/>
        </p:nvSpPr>
        <p:spPr>
          <a:xfrm>
            <a:off x="914400" y="1976755"/>
            <a:ext cx="347472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6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0,79</a:t>
            </a:r>
          </a:p>
        </p:txBody>
      </p:sp>
      <p:sp>
        <p:nvSpPr>
          <p:cNvPr id="147" name="Text 3"/>
          <p:cNvSpPr txBox="1"/>
          <p:nvPr/>
        </p:nvSpPr>
        <p:spPr>
          <a:xfrm>
            <a:off x="914400" y="2944495"/>
            <a:ext cx="3474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3A6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Kappa de Cohen ponderado (linear)</a:t>
            </a:r>
          </a:p>
        </p:txBody>
      </p:sp>
      <p:sp>
        <p:nvSpPr>
          <p:cNvPr id="148" name="Text 4"/>
          <p:cNvSpPr txBox="1"/>
          <p:nvPr/>
        </p:nvSpPr>
        <p:spPr>
          <a:xfrm>
            <a:off x="4754879" y="1976755"/>
            <a:ext cx="347472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6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0,83</a:t>
            </a:r>
          </a:p>
        </p:txBody>
      </p:sp>
      <p:sp>
        <p:nvSpPr>
          <p:cNvPr id="149" name="Text 5"/>
          <p:cNvSpPr txBox="1"/>
          <p:nvPr/>
        </p:nvSpPr>
        <p:spPr>
          <a:xfrm>
            <a:off x="4754879" y="2944495"/>
            <a:ext cx="3474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3A6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Correlação de Spearman</a:t>
            </a:r>
          </a:p>
        </p:txBody>
      </p:sp>
      <p:sp>
        <p:nvSpPr>
          <p:cNvPr id="150" name="Text 6"/>
          <p:cNvSpPr txBox="1"/>
          <p:nvPr/>
        </p:nvSpPr>
        <p:spPr>
          <a:xfrm>
            <a:off x="457200" y="3980179"/>
            <a:ext cx="82296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400">
                <a:solidFill>
                  <a:srgbClr val="1B3A6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Mesma nota em 89 pares; nos outros 11, diferença de 1 ponto. 66 pares tiveram nota mínima das duas: o sorteio gerou poucos pares parecidos.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 txBox="1"/>
          <p:nvPr/>
        </p:nvSpPr>
        <p:spPr>
          <a:xfrm>
            <a:off x="457200" y="1016588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Formato do CSV</a:t>
            </a:r>
          </a:p>
        </p:txBody>
      </p:sp>
      <p:sp>
        <p:nvSpPr>
          <p:cNvPr id="153" name="Shape 1"/>
          <p:cNvSpPr/>
          <p:nvPr/>
        </p:nvSpPr>
        <p:spPr>
          <a:xfrm>
            <a:off x="1371600" y="1840230"/>
            <a:ext cx="6400800" cy="1463041"/>
          </a:xfrm>
          <a:prstGeom prst="roundRect">
            <a:avLst>
              <a:gd name="adj" fmla="val 50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2"/>
          <p:cNvSpPr txBox="1"/>
          <p:nvPr/>
        </p:nvSpPr>
        <p:spPr>
          <a:xfrm>
            <a:off x="1554479" y="1949958"/>
            <a:ext cx="6035042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id_par,palavra_1,palavra_2,nota_1,nota_2,similaridade_media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P001,ferramenta,plataforma,3,3,3.0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P002,criptografia,chamar,1,1,1.0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P004,protocolo,segurança,2,2,2.0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...</a:t>
            </a:r>
          </a:p>
          <a:p>
            <a:pPr>
              <a:defRPr sz="12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(também: nome das anotadoras, mediana, amplitude e revisar)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/>
        </p:nvSpPr>
        <p:spPr>
          <a:xfrm>
            <a:off x="457200" y="38100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Dataset card da similaridade</a:t>
            </a:r>
          </a:p>
        </p:txBody>
      </p:sp>
      <p:sp>
        <p:nvSpPr>
          <p:cNvPr id="157" name="Shape 1"/>
          <p:cNvSpPr/>
          <p:nvPr/>
        </p:nvSpPr>
        <p:spPr>
          <a:xfrm>
            <a:off x="731519" y="1325880"/>
            <a:ext cx="2377441" cy="1234440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2"/>
          <p:cNvSpPr txBox="1"/>
          <p:nvPr/>
        </p:nvSpPr>
        <p:spPr>
          <a:xfrm>
            <a:off x="822960" y="1686305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159" name="Text 3"/>
          <p:cNvSpPr txBox="1"/>
          <p:nvPr/>
        </p:nvSpPr>
        <p:spPr>
          <a:xfrm>
            <a:off x="822960" y="2004822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200 lemas do corpus de questões</a:t>
            </a:r>
          </a:p>
        </p:txBody>
      </p:sp>
      <p:sp>
        <p:nvSpPr>
          <p:cNvPr id="160" name="Shape 4"/>
          <p:cNvSpPr/>
          <p:nvPr/>
        </p:nvSpPr>
        <p:spPr>
          <a:xfrm>
            <a:off x="3383279" y="1325880"/>
            <a:ext cx="2377441" cy="1234440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5"/>
          <p:cNvSpPr txBox="1"/>
          <p:nvPr/>
        </p:nvSpPr>
        <p:spPr>
          <a:xfrm>
            <a:off x="3474720" y="1686305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Tamanho</a:t>
            </a:r>
          </a:p>
        </p:txBody>
      </p:sp>
      <p:sp>
        <p:nvSpPr>
          <p:cNvPr id="162" name="Text 6"/>
          <p:cNvSpPr txBox="1"/>
          <p:nvPr/>
        </p:nvSpPr>
        <p:spPr>
          <a:xfrm>
            <a:off x="3474720" y="2004822"/>
            <a:ext cx="21945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100 pares, 2 anotadoras</a:t>
            </a:r>
          </a:p>
        </p:txBody>
      </p:sp>
      <p:sp>
        <p:nvSpPr>
          <p:cNvPr id="163" name="Shape 7"/>
          <p:cNvSpPr/>
          <p:nvPr/>
        </p:nvSpPr>
        <p:spPr>
          <a:xfrm>
            <a:off x="6035040" y="1325880"/>
            <a:ext cx="2377441" cy="1234440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8"/>
          <p:cNvSpPr txBox="1"/>
          <p:nvPr/>
        </p:nvSpPr>
        <p:spPr>
          <a:xfrm>
            <a:off x="6126479" y="1686305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Formato</a:t>
            </a:r>
          </a:p>
        </p:txBody>
      </p:sp>
      <p:sp>
        <p:nvSpPr>
          <p:cNvPr id="165" name="Text 9"/>
          <p:cNvSpPr txBox="1"/>
          <p:nvPr/>
        </p:nvSpPr>
        <p:spPr>
          <a:xfrm>
            <a:off x="6126479" y="2004822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CSV com as notas, média e mediana</a:t>
            </a:r>
          </a:p>
        </p:txBody>
      </p:sp>
      <p:sp>
        <p:nvSpPr>
          <p:cNvPr id="166" name="Shape 10"/>
          <p:cNvSpPr/>
          <p:nvPr/>
        </p:nvSpPr>
        <p:spPr>
          <a:xfrm>
            <a:off x="731519" y="2788920"/>
            <a:ext cx="2377441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11"/>
          <p:cNvSpPr txBox="1"/>
          <p:nvPr/>
        </p:nvSpPr>
        <p:spPr>
          <a:xfrm>
            <a:off x="822960" y="3149346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Uso</a:t>
            </a:r>
          </a:p>
        </p:txBody>
      </p:sp>
      <p:sp>
        <p:nvSpPr>
          <p:cNvPr id="168" name="Text 12"/>
          <p:cNvSpPr txBox="1"/>
          <p:nvPr/>
        </p:nvSpPr>
        <p:spPr>
          <a:xfrm>
            <a:off x="822960" y="3467861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comparar modelos com a percepção humana</a:t>
            </a:r>
          </a:p>
        </p:txBody>
      </p:sp>
      <p:sp>
        <p:nvSpPr>
          <p:cNvPr id="169" name="Shape 13"/>
          <p:cNvSpPr/>
          <p:nvPr/>
        </p:nvSpPr>
        <p:spPr>
          <a:xfrm>
            <a:off x="3383279" y="2788920"/>
            <a:ext cx="2377441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4"/>
          <p:cNvSpPr txBox="1"/>
          <p:nvPr/>
        </p:nvSpPr>
        <p:spPr>
          <a:xfrm>
            <a:off x="3474720" y="3149346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Limitações</a:t>
            </a:r>
          </a:p>
        </p:txBody>
      </p:sp>
      <p:sp>
        <p:nvSpPr>
          <p:cNvPr id="171" name="Text 15"/>
          <p:cNvSpPr txBox="1"/>
          <p:nvPr/>
        </p:nvSpPr>
        <p:spPr>
          <a:xfrm>
            <a:off x="3474720" y="3467861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pares sorteados: 66 com nota mínima</a:t>
            </a:r>
          </a:p>
        </p:txBody>
      </p:sp>
      <p:sp>
        <p:nvSpPr>
          <p:cNvPr id="172" name="Shape 16"/>
          <p:cNvSpPr/>
          <p:nvPr/>
        </p:nvSpPr>
        <p:spPr>
          <a:xfrm>
            <a:off x="6035040" y="2788920"/>
            <a:ext cx="2377441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7"/>
          <p:cNvSpPr txBox="1"/>
          <p:nvPr/>
        </p:nvSpPr>
        <p:spPr>
          <a:xfrm>
            <a:off x="6126479" y="3149346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Qualidade</a:t>
            </a:r>
          </a:p>
        </p:txBody>
      </p:sp>
      <p:sp>
        <p:nvSpPr>
          <p:cNvPr id="174" name="Text 18"/>
          <p:cNvSpPr txBox="1"/>
          <p:nvPr/>
        </p:nvSpPr>
        <p:spPr>
          <a:xfrm>
            <a:off x="6126479" y="3467861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kappa linear de 0,79 entre as anotadoras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1"/>
          <p:cNvSpPr txBox="1"/>
          <p:nvPr/>
        </p:nvSpPr>
        <p:spPr>
          <a:xfrm>
            <a:off x="353726" y="2120900"/>
            <a:ext cx="843654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Classificação de Texto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 txBox="1"/>
          <p:nvPr/>
        </p:nvSpPr>
        <p:spPr>
          <a:xfrm>
            <a:off x="457200" y="465745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Três formas de representar o texto</a:t>
            </a:r>
          </a:p>
        </p:txBody>
      </p:sp>
      <p:sp>
        <p:nvSpPr>
          <p:cNvPr id="179" name="Text 1"/>
          <p:cNvSpPr txBox="1"/>
          <p:nvPr/>
        </p:nvSpPr>
        <p:spPr>
          <a:xfrm>
            <a:off x="457200" y="1071535"/>
            <a:ext cx="82296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mesmos classificadores, mesma divisão treino/teste</a:t>
            </a:r>
          </a:p>
        </p:txBody>
      </p:sp>
      <p:sp>
        <p:nvSpPr>
          <p:cNvPr id="180" name="Shape 2"/>
          <p:cNvSpPr/>
          <p:nvPr/>
        </p:nvSpPr>
        <p:spPr>
          <a:xfrm>
            <a:off x="731519" y="1554480"/>
            <a:ext cx="2377441" cy="1920240"/>
          </a:xfrm>
          <a:prstGeom prst="roundRect">
            <a:avLst>
              <a:gd name="adj" fmla="val 7143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3"/>
          <p:cNvSpPr txBox="1"/>
          <p:nvPr/>
        </p:nvSpPr>
        <p:spPr>
          <a:xfrm>
            <a:off x="822960" y="2223515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BoW + TF-IDF</a:t>
            </a:r>
          </a:p>
        </p:txBody>
      </p:sp>
      <p:sp>
        <p:nvSpPr>
          <p:cNvPr id="182" name="Text 4"/>
          <p:cNvSpPr txBox="1"/>
          <p:nvPr/>
        </p:nvSpPr>
        <p:spPr>
          <a:xfrm>
            <a:off x="822960" y="2610611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contagem de palavras com peso pela raridade</a:t>
            </a:r>
          </a:p>
        </p:txBody>
      </p:sp>
      <p:sp>
        <p:nvSpPr>
          <p:cNvPr id="183" name="Shape 5"/>
          <p:cNvSpPr/>
          <p:nvPr/>
        </p:nvSpPr>
        <p:spPr>
          <a:xfrm>
            <a:off x="3383279" y="1554480"/>
            <a:ext cx="2377441" cy="1920240"/>
          </a:xfrm>
          <a:prstGeom prst="roundRect">
            <a:avLst>
              <a:gd name="adj" fmla="val 7143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6"/>
          <p:cNvSpPr txBox="1"/>
          <p:nvPr/>
        </p:nvSpPr>
        <p:spPr>
          <a:xfrm>
            <a:off x="3474720" y="2223515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spaCy</a:t>
            </a:r>
          </a:p>
        </p:txBody>
      </p:sp>
      <p:sp>
        <p:nvSpPr>
          <p:cNvPr id="185" name="Text 7"/>
          <p:cNvSpPr txBox="1"/>
          <p:nvPr/>
        </p:nvSpPr>
        <p:spPr>
          <a:xfrm>
            <a:off x="3474720" y="2610611"/>
            <a:ext cx="219456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pt_core_news_lg</a:t>
            </a:r>
          </a:p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média dos vetores das palavras</a:t>
            </a:r>
          </a:p>
        </p:txBody>
      </p:sp>
      <p:sp>
        <p:nvSpPr>
          <p:cNvPr id="186" name="Shape 8"/>
          <p:cNvSpPr/>
          <p:nvPr/>
        </p:nvSpPr>
        <p:spPr>
          <a:xfrm>
            <a:off x="6035040" y="1554480"/>
            <a:ext cx="2377441" cy="1920240"/>
          </a:xfrm>
          <a:prstGeom prst="roundRect">
            <a:avLst>
              <a:gd name="adj" fmla="val 7143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9"/>
          <p:cNvSpPr txBox="1"/>
          <p:nvPr/>
        </p:nvSpPr>
        <p:spPr>
          <a:xfrm>
            <a:off x="6126479" y="2223515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BERT</a:t>
            </a:r>
          </a:p>
        </p:txBody>
      </p:sp>
      <p:sp>
        <p:nvSpPr>
          <p:cNvPr id="188" name="Text 10"/>
          <p:cNvSpPr txBox="1"/>
          <p:nvPr/>
        </p:nvSpPr>
        <p:spPr>
          <a:xfrm>
            <a:off x="6126479" y="2610611"/>
            <a:ext cx="219456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BERTimbau (português)</a:t>
            </a:r>
          </a:p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média dos tokens da última camada</a:t>
            </a:r>
          </a:p>
        </p:txBody>
      </p:sp>
      <p:sp>
        <p:nvSpPr>
          <p:cNvPr id="189" name="Text 11"/>
          <p:cNvSpPr txBox="1"/>
          <p:nvPr/>
        </p:nvSpPr>
        <p:spPr>
          <a:xfrm>
            <a:off x="457200" y="4019549"/>
            <a:ext cx="82296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k-NN (k=3, como na aula) e regressão logística  ·  treino/teste 80/20 estratificado  ·  F1-macro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 txBox="1"/>
          <p:nvPr/>
        </p:nvSpPr>
        <p:spPr>
          <a:xfrm>
            <a:off x="457200" y="710334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Parâmetros do TF-IDF</a:t>
            </a:r>
          </a:p>
        </p:txBody>
      </p:sp>
      <p:graphicFrame>
        <p:nvGraphicFramePr>
          <p:cNvPr id="192" name="Table 0"/>
          <p:cNvGraphicFramePr/>
          <p:nvPr/>
        </p:nvGraphicFramePr>
        <p:xfrm>
          <a:off x="731519" y="1519269"/>
          <a:ext cx="7680961" cy="263347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28800"/>
                <a:gridCol w="1280160"/>
                <a:gridCol w="45720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Parâmetro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Valor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Por quê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max_features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10.000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testamos de 200 até todas; estabiliza perto de 5 mil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stop_words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spaCy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igual à aula; melhora um pouco o F1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ngram_range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(1, 1)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bigramas pioram o k-NN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max_df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1,0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 (da aula) não muda nada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sublinear_tf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True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log da contagem, como na aula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 txBox="1"/>
          <p:nvPr/>
        </p:nvSpPr>
        <p:spPr>
          <a:xfrm>
            <a:off x="457200" y="86165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195" name="Text 1"/>
          <p:cNvSpPr txBox="1"/>
          <p:nvPr/>
        </p:nvSpPr>
        <p:spPr>
          <a:xfrm>
            <a:off x="457200" y="1480140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conjunto de teste, 502 questões  ·  regressão logística, e o k-NN na última coluna</a:t>
            </a:r>
          </a:p>
        </p:txBody>
      </p:sp>
      <p:graphicFrame>
        <p:nvGraphicFramePr>
          <p:cNvPr id="196" name="Table 0"/>
          <p:cNvGraphicFramePr/>
          <p:nvPr/>
        </p:nvGraphicFramePr>
        <p:xfrm>
          <a:off x="1188719" y="1897970"/>
          <a:ext cx="6766561" cy="18288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200"/>
                <a:gridCol w="1280160"/>
                <a:gridCol w="12801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Representação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Acurácia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F1-macro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F1 com k-NN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BoW + TF-IDF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0,912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0,910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0,881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spaCy pt_core_news_lg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0,851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0,832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0,426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BERTimbau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0,813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0,804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0,753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 txBox="1"/>
          <p:nvPr/>
        </p:nvSpPr>
        <p:spPr>
          <a:xfrm>
            <a:off x="457200" y="28956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Por que o TF-IDF ganhou</a:t>
            </a:r>
          </a:p>
        </p:txBody>
      </p:sp>
      <p:sp>
        <p:nvSpPr>
          <p:cNvPr id="199" name="Text 1"/>
          <p:cNvSpPr txBox="1"/>
          <p:nvPr/>
        </p:nvSpPr>
        <p:spPr>
          <a:xfrm>
            <a:off x="731519" y="1036319"/>
            <a:ext cx="3657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Vantagens do TF-IDF</a:t>
            </a:r>
          </a:p>
        </p:txBody>
      </p:sp>
      <p:sp>
        <p:nvSpPr>
          <p:cNvPr id="200" name="Text 2"/>
          <p:cNvSpPr txBox="1"/>
          <p:nvPr/>
        </p:nvSpPr>
        <p:spPr>
          <a:xfrm>
            <a:off x="4754879" y="1036319"/>
            <a:ext cx="3657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Problemas dos embeddings</a:t>
            </a:r>
          </a:p>
        </p:txBody>
      </p:sp>
      <p:sp>
        <p:nvSpPr>
          <p:cNvPr id="201" name="Shape 3"/>
          <p:cNvSpPr/>
          <p:nvPr/>
        </p:nvSpPr>
        <p:spPr>
          <a:xfrm>
            <a:off x="731519" y="1463039"/>
            <a:ext cx="3657601" cy="2926081"/>
          </a:xfrm>
          <a:prstGeom prst="roundRect">
            <a:avLst>
              <a:gd name="adj" fmla="val 4688"/>
            </a:avLst>
          </a:prstGeom>
          <a:solidFill>
            <a:srgbClr val="142B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4"/>
          <p:cNvSpPr txBox="1"/>
          <p:nvPr/>
        </p:nvSpPr>
        <p:spPr>
          <a:xfrm>
            <a:off x="960119" y="1691639"/>
            <a:ext cx="3200401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Termos técnicos decidem a subárea (SELECT, ITIL, IPSec)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O TF-IDF dá peso direto aos termos raros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Os rótulos também vieram de palavras-chave</a:t>
            </a:r>
          </a:p>
        </p:txBody>
      </p:sp>
      <p:sp>
        <p:nvSpPr>
          <p:cNvPr id="203" name="Shape 5"/>
          <p:cNvSpPr/>
          <p:nvPr/>
        </p:nvSpPr>
        <p:spPr>
          <a:xfrm>
            <a:off x="4754879" y="1463039"/>
            <a:ext cx="3657601" cy="2926081"/>
          </a:xfrm>
          <a:prstGeom prst="roundRect">
            <a:avLst>
              <a:gd name="adj" fmla="val 4688"/>
            </a:avLst>
          </a:prstGeom>
          <a:solidFill>
            <a:srgbClr val="142B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6"/>
          <p:cNvSpPr txBox="1"/>
          <p:nvPr/>
        </p:nvSpPr>
        <p:spPr>
          <a:xfrm>
            <a:off x="4983479" y="1691639"/>
            <a:ext cx="3200401" cy="185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A média dos vetores dilui os termos técnicos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k-NN com spaCy desaba (F1 0,43)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 sem ajuste: vetor genérico da frase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Das 26 questões que todos erram, várias têm rótulo errado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1"/>
          <p:cNvSpPr txBox="1"/>
          <p:nvPr/>
        </p:nvSpPr>
        <p:spPr>
          <a:xfrm>
            <a:off x="290730" y="2133599"/>
            <a:ext cx="8562540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8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Similaridade de Palavras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 txBox="1"/>
          <p:nvPr/>
        </p:nvSpPr>
        <p:spPr>
          <a:xfrm>
            <a:off x="457200" y="38100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Como medimos</a:t>
            </a:r>
          </a:p>
        </p:txBody>
      </p:sp>
      <p:sp>
        <p:nvSpPr>
          <p:cNvPr id="209" name="Text 1"/>
          <p:cNvSpPr txBox="1"/>
          <p:nvPr/>
        </p:nvSpPr>
        <p:spPr>
          <a:xfrm>
            <a:off x="457200" y="999489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nota do modelo vs. nota humana, na escala da aula (0 a 1)</a:t>
            </a:r>
          </a:p>
        </p:txBody>
      </p:sp>
      <p:sp>
        <p:nvSpPr>
          <p:cNvPr id="210" name="Shape 2"/>
          <p:cNvSpPr/>
          <p:nvPr/>
        </p:nvSpPr>
        <p:spPr>
          <a:xfrm>
            <a:off x="731519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3"/>
          <p:cNvSpPr txBox="1"/>
          <p:nvPr/>
        </p:nvSpPr>
        <p:spPr>
          <a:xfrm>
            <a:off x="822960" y="2182367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spaCy</a:t>
            </a:r>
          </a:p>
        </p:txBody>
      </p:sp>
      <p:sp>
        <p:nvSpPr>
          <p:cNvPr id="212" name="Text 4"/>
          <p:cNvSpPr txBox="1"/>
          <p:nvPr/>
        </p:nvSpPr>
        <p:spPr>
          <a:xfrm>
            <a:off x="822960" y="2560320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cosseno entre os vetores das duas palavras</a:t>
            </a:r>
          </a:p>
        </p:txBody>
      </p:sp>
      <p:sp>
        <p:nvSpPr>
          <p:cNvPr id="213" name="Shape 5"/>
          <p:cNvSpPr/>
          <p:nvPr/>
        </p:nvSpPr>
        <p:spPr>
          <a:xfrm>
            <a:off x="3383279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6"/>
          <p:cNvSpPr txBox="1"/>
          <p:nvPr/>
        </p:nvSpPr>
        <p:spPr>
          <a:xfrm>
            <a:off x="3474720" y="2182367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BERT</a:t>
            </a:r>
          </a:p>
        </p:txBody>
      </p:sp>
      <p:sp>
        <p:nvSpPr>
          <p:cNvPr id="215" name="Text 7"/>
          <p:cNvSpPr txBox="1"/>
          <p:nvPr/>
        </p:nvSpPr>
        <p:spPr>
          <a:xfrm>
            <a:off x="3474720" y="2560320"/>
            <a:ext cx="219456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cosseno entre os vetores de cada palavra (média dos subtokens)</a:t>
            </a:r>
          </a:p>
        </p:txBody>
      </p:sp>
      <p:sp>
        <p:nvSpPr>
          <p:cNvPr id="216" name="Shape 8"/>
          <p:cNvSpPr/>
          <p:nvPr/>
        </p:nvSpPr>
        <p:spPr>
          <a:xfrm>
            <a:off x="6035040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9"/>
          <p:cNvSpPr txBox="1"/>
          <p:nvPr/>
        </p:nvSpPr>
        <p:spPr>
          <a:xfrm>
            <a:off x="6126479" y="2182367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218" name="Text 10"/>
          <p:cNvSpPr txBox="1"/>
          <p:nvPr/>
        </p:nvSpPr>
        <p:spPr>
          <a:xfrm>
            <a:off x="6126479" y="2560320"/>
            <a:ext cx="219456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Gemini 3.5 Flash dá um grau de 0 a 1, com os exemplos da aula</a:t>
            </a:r>
          </a:p>
        </p:txBody>
      </p:sp>
      <p:sp>
        <p:nvSpPr>
          <p:cNvPr id="219" name="Text 11"/>
          <p:cNvSpPr txBox="1"/>
          <p:nvPr/>
        </p:nvSpPr>
        <p:spPr>
          <a:xfrm>
            <a:off x="457200" y="3909059"/>
            <a:ext cx="82296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Comparação com Spearman, nos dois datasets: o nosso e o feito em aula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 txBox="1"/>
          <p:nvPr/>
        </p:nvSpPr>
        <p:spPr>
          <a:xfrm>
            <a:off x="457200" y="38100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222" name="Text 1"/>
          <p:cNvSpPr txBox="1"/>
          <p:nvPr/>
        </p:nvSpPr>
        <p:spPr>
          <a:xfrm>
            <a:off x="457200" y="999489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correlação de Spearman com a anotação humana</a:t>
            </a:r>
          </a:p>
        </p:txBody>
      </p:sp>
      <p:graphicFrame>
        <p:nvGraphicFramePr>
          <p:cNvPr id="223" name="Table 0"/>
          <p:cNvGraphicFramePr/>
          <p:nvPr/>
        </p:nvGraphicFramePr>
        <p:xfrm>
          <a:off x="1371600" y="1417319"/>
          <a:ext cx="6400800" cy="2286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2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Modelo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Nosso dataset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Dataset da aula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spaCy pt_core_news_lg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0,30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0,07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BERTimbau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0,23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0,11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LLM (Gemini)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0,68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0,53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Concordância humana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0,35 a 0,40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4" name="Text 2"/>
          <p:cNvSpPr txBox="1"/>
          <p:nvPr/>
        </p:nvSpPr>
        <p:spPr>
          <a:xfrm>
            <a:off x="457200" y="4127500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4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O Gemini é o único perto das pessoas; no dataset de aula, até as alunas concordam pouco entre si.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 txBox="1"/>
          <p:nvPr/>
        </p:nvSpPr>
        <p:spPr>
          <a:xfrm>
            <a:off x="457200" y="38100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Três pares que explicam</a:t>
            </a:r>
          </a:p>
        </p:txBody>
      </p:sp>
      <p:sp>
        <p:nvSpPr>
          <p:cNvPr id="227" name="Text 1"/>
          <p:cNvSpPr txBox="1"/>
          <p:nvPr/>
        </p:nvSpPr>
        <p:spPr>
          <a:xfrm>
            <a:off x="457200" y="999489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nota das pessoas e de cada modelo</a:t>
            </a:r>
          </a:p>
        </p:txBody>
      </p:sp>
      <p:sp>
        <p:nvSpPr>
          <p:cNvPr id="228" name="Shape 2"/>
          <p:cNvSpPr/>
          <p:nvPr/>
        </p:nvSpPr>
        <p:spPr>
          <a:xfrm>
            <a:off x="731519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3"/>
          <p:cNvSpPr txBox="1"/>
          <p:nvPr/>
        </p:nvSpPr>
        <p:spPr>
          <a:xfrm>
            <a:off x="822960" y="2182367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tcp / ordem</a:t>
            </a:r>
          </a:p>
        </p:txBody>
      </p:sp>
      <p:sp>
        <p:nvSpPr>
          <p:cNvPr id="230" name="Text 4"/>
          <p:cNvSpPr txBox="1"/>
          <p:nvPr/>
        </p:nvSpPr>
        <p:spPr>
          <a:xfrm>
            <a:off x="822960" y="2560320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pessoas 0,25  ·  spaCy 0,04</a:t>
            </a:r>
          </a:p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 0,40  ·  Gemini 0,50</a:t>
            </a:r>
          </a:p>
        </p:txBody>
      </p:sp>
      <p:sp>
        <p:nvSpPr>
          <p:cNvPr id="231" name="Shape 5"/>
          <p:cNvSpPr/>
          <p:nvPr/>
        </p:nvSpPr>
        <p:spPr>
          <a:xfrm>
            <a:off x="3383279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6"/>
          <p:cNvSpPr txBox="1"/>
          <p:nvPr/>
        </p:nvSpPr>
        <p:spPr>
          <a:xfrm>
            <a:off x="3474720" y="1877567"/>
            <a:ext cx="219456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deployar / publicar</a:t>
            </a:r>
          </a:p>
        </p:txBody>
      </p:sp>
      <p:sp>
        <p:nvSpPr>
          <p:cNvPr id="233" name="Text 7"/>
          <p:cNvSpPr txBox="1"/>
          <p:nvPr/>
        </p:nvSpPr>
        <p:spPr>
          <a:xfrm>
            <a:off x="3474720" y="2560320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pessoas 1  ·  spaCy 0</a:t>
            </a:r>
          </a:p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 0,41  ·  Gemini 0,75</a:t>
            </a:r>
          </a:p>
        </p:txBody>
      </p:sp>
      <p:sp>
        <p:nvSpPr>
          <p:cNvPr id="234" name="Shape 8"/>
          <p:cNvSpPr/>
          <p:nvPr/>
        </p:nvSpPr>
        <p:spPr>
          <a:xfrm>
            <a:off x="6035040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9"/>
          <p:cNvSpPr txBox="1"/>
          <p:nvPr/>
        </p:nvSpPr>
        <p:spPr>
          <a:xfrm>
            <a:off x="6126479" y="2182367"/>
            <a:ext cx="21945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vetor / matriz</a:t>
            </a:r>
          </a:p>
        </p:txBody>
      </p:sp>
      <p:sp>
        <p:nvSpPr>
          <p:cNvPr id="236" name="Text 10"/>
          <p:cNvSpPr txBox="1"/>
          <p:nvPr/>
        </p:nvSpPr>
        <p:spPr>
          <a:xfrm>
            <a:off x="6126479" y="2560320"/>
            <a:ext cx="21945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pessoas 0  ·  spaCy 0,37</a:t>
            </a:r>
          </a:p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 0,78  ·  Gemini 0,75</a:t>
            </a:r>
          </a:p>
        </p:txBody>
      </p:sp>
      <p:sp>
        <p:nvSpPr>
          <p:cNvPr id="237" name="Text 11"/>
          <p:cNvSpPr txBox="1"/>
          <p:nvPr/>
        </p:nvSpPr>
        <p:spPr>
          <a:xfrm>
            <a:off x="457200" y="3909059"/>
            <a:ext cx="82296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Só o Gemini usa o sentido das palavras em TI, mas todos acham vetor e matriz parecidos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 txBox="1"/>
          <p:nvPr/>
        </p:nvSpPr>
        <p:spPr>
          <a:xfrm>
            <a:off x="457200" y="28956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Análise crítica</a:t>
            </a:r>
          </a:p>
        </p:txBody>
      </p:sp>
      <p:sp>
        <p:nvSpPr>
          <p:cNvPr id="240" name="Text 1"/>
          <p:cNvSpPr txBox="1"/>
          <p:nvPr/>
        </p:nvSpPr>
        <p:spPr>
          <a:xfrm>
            <a:off x="731519" y="1036319"/>
            <a:ext cx="3657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O que funcionou</a:t>
            </a:r>
          </a:p>
        </p:txBody>
      </p:sp>
      <p:sp>
        <p:nvSpPr>
          <p:cNvPr id="241" name="Text 2"/>
          <p:cNvSpPr txBox="1"/>
          <p:nvPr/>
        </p:nvSpPr>
        <p:spPr>
          <a:xfrm>
            <a:off x="4754879" y="1036319"/>
            <a:ext cx="3657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Limitações</a:t>
            </a:r>
          </a:p>
        </p:txBody>
      </p:sp>
      <p:sp>
        <p:nvSpPr>
          <p:cNvPr id="242" name="Shape 3"/>
          <p:cNvSpPr/>
          <p:nvPr/>
        </p:nvSpPr>
        <p:spPr>
          <a:xfrm>
            <a:off x="731519" y="1463039"/>
            <a:ext cx="3657601" cy="2926081"/>
          </a:xfrm>
          <a:prstGeom prst="roundRect">
            <a:avLst>
              <a:gd name="adj" fmla="val 4688"/>
            </a:avLst>
          </a:prstGeom>
          <a:solidFill>
            <a:srgbClr val="142B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4"/>
          <p:cNvSpPr txBox="1"/>
          <p:nvPr/>
        </p:nvSpPr>
        <p:spPr>
          <a:xfrm>
            <a:off x="960119" y="1691639"/>
            <a:ext cx="3200401" cy="144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TF-IDF acertou 91% das subáreas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Gemini concordou com as anotadoras (0,68)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k-NN da aula decidiu os rótulos ambíguos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Mesma escala nos dois datasets</a:t>
            </a:r>
          </a:p>
        </p:txBody>
      </p:sp>
      <p:sp>
        <p:nvSpPr>
          <p:cNvPr id="244" name="Shape 5"/>
          <p:cNvSpPr/>
          <p:nvPr/>
        </p:nvSpPr>
        <p:spPr>
          <a:xfrm>
            <a:off x="4754879" y="1463039"/>
            <a:ext cx="3657601" cy="2926081"/>
          </a:xfrm>
          <a:prstGeom prst="roundRect">
            <a:avLst>
              <a:gd name="adj" fmla="val 4688"/>
            </a:avLst>
          </a:prstGeom>
          <a:solidFill>
            <a:srgbClr val="142B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6"/>
          <p:cNvSpPr txBox="1"/>
          <p:nvPr/>
        </p:nvSpPr>
        <p:spPr>
          <a:xfrm>
            <a:off x="4983479" y="1691639"/>
            <a:ext cx="3200401" cy="185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Só 2 anotadoras e 100 pares, quase todos pouco parecidos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Palavras técnicas fora do vocabulário do spaCy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 não foi feito para palavra isolada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Cerca de 3% das questões com subárea errada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 txBox="1"/>
          <p:nvPr/>
        </p:nvSpPr>
        <p:spPr>
          <a:xfrm>
            <a:off x="457200" y="28956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Uso de IA</a:t>
            </a:r>
          </a:p>
        </p:txBody>
      </p:sp>
      <p:sp>
        <p:nvSpPr>
          <p:cNvPr id="248" name="Text 1"/>
          <p:cNvSpPr txBox="1"/>
          <p:nvPr/>
        </p:nvSpPr>
        <p:spPr>
          <a:xfrm>
            <a:off x="731519" y="1036319"/>
            <a:ext cx="3657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Onde usamos</a:t>
            </a:r>
          </a:p>
        </p:txBody>
      </p:sp>
      <p:sp>
        <p:nvSpPr>
          <p:cNvPr id="249" name="Text 2"/>
          <p:cNvSpPr txBox="1"/>
          <p:nvPr/>
        </p:nvSpPr>
        <p:spPr>
          <a:xfrm>
            <a:off x="4754879" y="1036319"/>
            <a:ext cx="3657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Onde não usamos</a:t>
            </a:r>
          </a:p>
        </p:txBody>
      </p:sp>
      <p:sp>
        <p:nvSpPr>
          <p:cNvPr id="250" name="Shape 3"/>
          <p:cNvSpPr/>
          <p:nvPr/>
        </p:nvSpPr>
        <p:spPr>
          <a:xfrm>
            <a:off x="731519" y="1463039"/>
            <a:ext cx="3657601" cy="2926081"/>
          </a:xfrm>
          <a:prstGeom prst="roundRect">
            <a:avLst>
              <a:gd name="adj" fmla="val 4688"/>
            </a:avLst>
          </a:prstGeom>
          <a:solidFill>
            <a:srgbClr val="142B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4"/>
          <p:cNvSpPr txBox="1"/>
          <p:nvPr/>
        </p:nvSpPr>
        <p:spPr>
          <a:xfrm>
            <a:off x="960119" y="1691639"/>
            <a:ext cx="3200401" cy="220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Claude: programação dos scripts e notebooks</a:t>
            </a:r>
          </a:p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Claude: texto do README e da apresentação</a:t>
            </a:r>
          </a:p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Claude: conferência das 336 questões usadas para medir a subárea</a:t>
            </a:r>
          </a:p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Codex: scripts da parte 2</a:t>
            </a:r>
          </a:p>
          <a:p>
            <a:pPr marL="371475" indent="-371475">
              <a:spcBef>
                <a:spcPts val="600"/>
              </a:spcBef>
              <a:buSzPct val="100000"/>
              <a:buChar char="•"/>
              <a:defRPr sz="13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Gemini: um dos modelos testados na parte 4</a:t>
            </a:r>
          </a:p>
        </p:txBody>
      </p:sp>
      <p:sp>
        <p:nvSpPr>
          <p:cNvPr id="252" name="Shape 5"/>
          <p:cNvSpPr/>
          <p:nvPr/>
        </p:nvSpPr>
        <p:spPr>
          <a:xfrm>
            <a:off x="4754879" y="1463039"/>
            <a:ext cx="3657601" cy="2926081"/>
          </a:xfrm>
          <a:prstGeom prst="roundRect">
            <a:avLst>
              <a:gd name="adj" fmla="val 4688"/>
            </a:avLst>
          </a:prstGeom>
          <a:solidFill>
            <a:srgbClr val="142B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6"/>
          <p:cNvSpPr txBox="1"/>
          <p:nvPr/>
        </p:nvSpPr>
        <p:spPr>
          <a:xfrm>
            <a:off x="4983479" y="1691639"/>
            <a:ext cx="3200401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Anotação dos 100 pares (Luiza e Rafaela)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Anotação do dataset de aula</a:t>
            </a:r>
          </a:p>
          <a:p>
            <a:pPr marL="400050" indent="-400050">
              <a:spcBef>
                <a:spcPts val="600"/>
              </a:spcBef>
              <a:buSzPct val="100000"/>
              <a:buChar char="•"/>
              <a:defRPr sz="14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Nenhum rótulo do corpus veio da conferência com 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 txBox="1"/>
          <p:nvPr/>
        </p:nvSpPr>
        <p:spPr>
          <a:xfrm>
            <a:off x="914400" y="1378004"/>
            <a:ext cx="73152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20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Conclusões</a:t>
            </a:r>
          </a:p>
        </p:txBody>
      </p:sp>
      <p:sp>
        <p:nvSpPr>
          <p:cNvPr id="256" name="Text 1"/>
          <p:cNvSpPr txBox="1"/>
          <p:nvPr/>
        </p:nvSpPr>
        <p:spPr>
          <a:xfrm>
            <a:off x="565322" y="1823931"/>
            <a:ext cx="8013356" cy="193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2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Para classificar, o TF-IDF foi o melhor (F1 0,91): o assunto está nos termos técnicos. Para similaridade, só o LLM ficou perto das pessoas.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5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